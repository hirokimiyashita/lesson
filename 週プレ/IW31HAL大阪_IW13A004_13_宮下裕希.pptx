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7"/>
  </p:notesMasterIdLst>
  <p:sldIdLst>
    <p:sldId id="331" r:id="rId3"/>
    <p:sldId id="325" r:id="rId4"/>
    <p:sldId id="329" r:id="rId5"/>
    <p:sldId id="330" r:id="rId6"/>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2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8"/>
    <p:restoredTop sz="95634"/>
  </p:normalViewPr>
  <p:slideViewPr>
    <p:cSldViewPr snapToGrid="0" snapToObjects="1" showGuides="1">
      <p:cViewPr varScale="1">
        <p:scale>
          <a:sx n="118" d="100"/>
          <a:sy n="118" d="100"/>
        </p:scale>
        <p:origin x="92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3ACF0855-3109-F84E-A76F-B18D22AEF469}" type="datetimeFigureOut">
              <a:rPr kumimoji="1" lang="ja-JP" altLang="en-US" smtClean="0"/>
              <a:t>2021/1/28</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D79BFE1D-9872-8040-8BBF-B02B48D43B0F}" type="slidenum">
              <a:rPr kumimoji="1" lang="ja-JP" altLang="en-US" smtClean="0"/>
              <a:t>‹#›</a:t>
            </a:fld>
            <a:endParaRPr kumimoji="1" lang="ja-JP" altLang="en-US"/>
          </a:p>
        </p:txBody>
      </p:sp>
    </p:spTree>
    <p:extLst>
      <p:ext uri="{BB962C8B-B14F-4D97-AF65-F5344CB8AC3E}">
        <p14:creationId xmlns:p14="http://schemas.microsoft.com/office/powerpoint/2010/main" val="35300398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79BFE1D-9872-8040-8BBF-B02B48D43B0F}" type="slidenum">
              <a:rPr kumimoji="1" lang="ja-JP" altLang="en-US" smtClean="0"/>
              <a:t>3</a:t>
            </a:fld>
            <a:endParaRPr kumimoji="1" lang="ja-JP" altLang="en-US"/>
          </a:p>
        </p:txBody>
      </p:sp>
    </p:spTree>
    <p:extLst>
      <p:ext uri="{BB962C8B-B14F-4D97-AF65-F5344CB8AC3E}">
        <p14:creationId xmlns:p14="http://schemas.microsoft.com/office/powerpoint/2010/main" val="366482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79BFE1D-9872-8040-8BBF-B02B48D43B0F}" type="slidenum">
              <a:rPr kumimoji="1" lang="ja-JP" altLang="en-US" smtClean="0"/>
              <a:t>4</a:t>
            </a:fld>
            <a:endParaRPr kumimoji="1" lang="ja-JP" altLang="en-US"/>
          </a:p>
        </p:txBody>
      </p:sp>
    </p:spTree>
    <p:extLst>
      <p:ext uri="{BB962C8B-B14F-4D97-AF65-F5344CB8AC3E}">
        <p14:creationId xmlns:p14="http://schemas.microsoft.com/office/powerpoint/2010/main" val="453225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326F16-4550-0348-8A3C-64145F3F3DB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a:extLst>
              <a:ext uri="{FF2B5EF4-FFF2-40B4-BE49-F238E27FC236}">
                <a16:creationId xmlns:a16="http://schemas.microsoft.com/office/drawing/2014/main" id="{B645967F-8F9A-204F-B74E-91BDD7EA60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クリックしてマスター サブタイトルの書式設定</a:t>
            </a:r>
          </a:p>
        </p:txBody>
      </p:sp>
      <p:sp>
        <p:nvSpPr>
          <p:cNvPr id="4" name="日付プレースホルダー 3">
            <a:extLst>
              <a:ext uri="{FF2B5EF4-FFF2-40B4-BE49-F238E27FC236}">
                <a16:creationId xmlns:a16="http://schemas.microsoft.com/office/drawing/2014/main" id="{1D31012A-981D-F647-BDBD-B9A4AB25E5A8}"/>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D63F10A2-68E4-844F-A5E5-A512075298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7F5067-C287-AC4E-A9D8-490F179D3EF7}"/>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2944617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603437-A07B-C644-B033-7F9879C5C49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D70ED28-45A1-EC43-B553-145C68FEEF2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E6DC099-3F70-1240-8EA7-EDD98E0E437B}"/>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63AC327C-57EF-A045-BFF8-4D22DF36A8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B5E0895-ADF1-F540-A55A-CC83E8B079B8}"/>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6676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3256E7-C303-4845-AE9F-1FF0E335746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DF4CDC-725A-F749-B7AA-C772F5EA53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8C6528-E2E7-D345-8C47-C7C2171A9ACF}"/>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F99B7434-E888-2444-925A-7ECC0A127FB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2783FB-3D42-174D-A46C-D0540F2F9627}"/>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1789287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A3D0B9-8DDC-6745-B827-FAEED15CE77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0BDB83-9550-D54A-957F-E8353D78BFC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A64BBE-1D79-AE4A-AA31-C2CE7AF229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1005501-59FA-D045-A9F6-C6DCF1EE44FC}"/>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6" name="フッター プレースホルダー 5">
            <a:extLst>
              <a:ext uri="{FF2B5EF4-FFF2-40B4-BE49-F238E27FC236}">
                <a16:creationId xmlns:a16="http://schemas.microsoft.com/office/drawing/2014/main" id="{B3396303-1147-E347-8D9D-0BAC7FA2F5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3916475-27AE-FD44-85F5-5D689EF33EF0}"/>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355081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944E65-D8EE-DD49-8FA2-18AC4EDF358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363C34B-1768-6A4B-AA86-00B966267E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9B946FF-AF02-DB40-9E67-8A916DE5CD9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050533D-64D1-5F46-89C9-61CEBE1FE8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4EFABDE-ADCF-A74C-97D6-01DAFFC6BF2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255DA5A-B6E6-5343-9F0F-8826F8C1D545}"/>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8" name="フッター プレースホルダー 7">
            <a:extLst>
              <a:ext uri="{FF2B5EF4-FFF2-40B4-BE49-F238E27FC236}">
                <a16:creationId xmlns:a16="http://schemas.microsoft.com/office/drawing/2014/main" id="{5DAF7B44-E11E-3449-BBDE-52E54F35CD9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140E165-8E8C-FB42-8F52-D5C731560205}"/>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2815188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2C18D2-14FB-A44B-BBA5-17247502BEE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8DFDC47-6AE2-E54C-9243-40C72A46C983}"/>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4" name="フッター プレースホルダー 3">
            <a:extLst>
              <a:ext uri="{FF2B5EF4-FFF2-40B4-BE49-F238E27FC236}">
                <a16:creationId xmlns:a16="http://schemas.microsoft.com/office/drawing/2014/main" id="{B338AEA2-7140-044F-BD5B-FDD190CE75C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77D1503-EE37-DA4E-BA53-69A5479A71AD}"/>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366173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977D37-8974-E845-9D52-425FB1D895FC}"/>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3" name="フッター プレースホルダー 2">
            <a:extLst>
              <a:ext uri="{FF2B5EF4-FFF2-40B4-BE49-F238E27FC236}">
                <a16:creationId xmlns:a16="http://schemas.microsoft.com/office/drawing/2014/main" id="{94B22C8F-91FB-024D-BF26-2A40C5D5F4C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269C434-66AE-1143-B0DF-85EB8272FBD8}"/>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691872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コンテンツ (キャプション付き)">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2D36E0-0334-2742-82BA-0DBAB2D4AF9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3E1468D-72A8-D44A-8E8F-F3A5F7EEB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7A001FE-E2D3-0048-AE82-069515EAD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487CCD6-B523-4B4F-AE8D-9A94991A3EFF}"/>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6" name="フッター プレースホルダー 5">
            <a:extLst>
              <a:ext uri="{FF2B5EF4-FFF2-40B4-BE49-F238E27FC236}">
                <a16:creationId xmlns:a16="http://schemas.microsoft.com/office/drawing/2014/main" id="{259E9942-B2C5-6B46-83FF-652BB260BD3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9FB724-CDF3-B541-A97F-BE0067911DEE}"/>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45910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図  (キャプション付き)">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24AD7B-2293-854C-B703-9650C75794D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D39E965-3591-8B40-AF72-C4CEDAE51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36F11A9-CDD1-6B4F-B102-BA50E157A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7AA4E4B-4385-0A4D-8EE8-DCFF1C053DC9}"/>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6" name="フッター プレースホルダー 5">
            <a:extLst>
              <a:ext uri="{FF2B5EF4-FFF2-40B4-BE49-F238E27FC236}">
                <a16:creationId xmlns:a16="http://schemas.microsoft.com/office/drawing/2014/main" id="{AC74D802-9409-3B4F-A3BE-5B157F70F6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BA47A6-42C8-B94E-840F-807F9A8CE9A8}"/>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2358100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818E2C-C722-2743-9203-B476E7343F4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67B135F-36D1-614B-9825-CA2E2169F29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0C6C13-DB65-004E-9EDC-1F6EE214840B}"/>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A135BF51-CAE4-1D49-88B8-7F8DF67F40A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25C2AD-8C51-9A47-9E9F-BC7C66EF96C6}"/>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372486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460C3F0-E4C9-6C4F-B0FA-766A89F7BAB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33483ED-13DC-D04D-BCED-E0743DEB6BC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5ED746-7294-4D40-A611-F32B5C354B53}"/>
              </a:ext>
            </a:extLst>
          </p:cNvPr>
          <p:cNvSpPr>
            <a:spLocks noGrp="1"/>
          </p:cNvSpPr>
          <p:nvPr>
            <p:ph type="dt" sz="half" idx="10"/>
          </p:nvPr>
        </p:nvSpPr>
        <p:spPr/>
        <p:txBody>
          <a:body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E72CCF08-366E-B045-A82D-35D69F7A4D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7076CB-59F6-2043-A6E2-F8D5A8688A86}"/>
              </a:ext>
            </a:extLst>
          </p:cNvPr>
          <p:cNvSpPr>
            <a:spLocks noGrp="1"/>
          </p:cNvSpPr>
          <p:nvPr>
            <p:ph type="sldNum" sz="quarter" idx="12"/>
          </p:nvPr>
        </p:nvSpPr>
        <p:spPr/>
        <p:txBody>
          <a:body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3582632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5778" name="TitleMaster_MainTitle"/>
          <p:cNvSpPr>
            <a:spLocks noGrp="1" noChangeArrowheads="1"/>
          </p:cNvSpPr>
          <p:nvPr>
            <p:ph type="ctrTitle"/>
          </p:nvPr>
        </p:nvSpPr>
        <p:spPr>
          <a:xfrm>
            <a:off x="1221350" y="2130425"/>
            <a:ext cx="9661363" cy="1828800"/>
          </a:xfrm>
          <a:ln>
            <a:solidFill>
              <a:srgbClr val="CC0000"/>
            </a:solidFill>
          </a:ln>
        </p:spPr>
        <p:txBody>
          <a:bodyPr wrap="none" anchorCtr="1"/>
          <a:lstStyle>
            <a:lvl1pPr algn="ctr">
              <a:defRPr sz="2800" b="1"/>
            </a:lvl1pPr>
          </a:lstStyle>
          <a:p>
            <a:r>
              <a:rPr lang="ja-JP" altLang="en-US"/>
              <a:t>マスタ タイトルの書式設定</a:t>
            </a:r>
          </a:p>
        </p:txBody>
      </p:sp>
      <p:sp>
        <p:nvSpPr>
          <p:cNvPr id="75779" name="TitleMaster_SubTitle"/>
          <p:cNvSpPr>
            <a:spLocks noGrp="1" noChangeArrowheads="1"/>
          </p:cNvSpPr>
          <p:nvPr>
            <p:ph type="subTitle" idx="1"/>
          </p:nvPr>
        </p:nvSpPr>
        <p:spPr>
          <a:xfrm>
            <a:off x="2909776" y="4445000"/>
            <a:ext cx="5467738" cy="1524000"/>
          </a:xfrm>
          <a:ln>
            <a:noFill/>
          </a:ln>
        </p:spPr>
        <p:txBody>
          <a:bodyPr wrap="none"/>
          <a:lstStyle>
            <a:lvl1pPr marL="0" indent="0">
              <a:buFontTx/>
              <a:buNone/>
              <a:defRPr sz="1800"/>
            </a:lvl1pPr>
          </a:lstStyle>
          <a:p>
            <a:r>
              <a:rPr lang="ja-JP" altLang="en-US"/>
              <a:t>マスタ サブタイトルの書式設定</a:t>
            </a:r>
          </a:p>
        </p:txBody>
      </p:sp>
      <p:sp>
        <p:nvSpPr>
          <p:cNvPr id="7" name="Rectangle 4"/>
          <p:cNvSpPr>
            <a:spLocks noGrp="1" noChangeArrowheads="1"/>
          </p:cNvSpPr>
          <p:nvPr>
            <p:ph type="dt" sz="half" idx="10"/>
          </p:nvPr>
        </p:nvSpPr>
        <p:spPr/>
        <p:txBody>
          <a:bodyPr/>
          <a:lstStyle>
            <a:lvl1pPr>
              <a:defRPr dirty="0">
                <a:latin typeface="+mj-lt"/>
              </a:defRPr>
            </a:lvl1pPr>
          </a:lstStyle>
          <a:p>
            <a:pPr>
              <a:defRPr/>
            </a:pPr>
            <a:endParaRPr lang="en-US" altLang="ja-JP"/>
          </a:p>
        </p:txBody>
      </p:sp>
      <p:sp>
        <p:nvSpPr>
          <p:cNvPr id="8" name="Rectangle 5"/>
          <p:cNvSpPr>
            <a:spLocks noGrp="1" noChangeArrowheads="1"/>
          </p:cNvSpPr>
          <p:nvPr>
            <p:ph type="ftr" sz="quarter" idx="11"/>
          </p:nvPr>
        </p:nvSpPr>
        <p:spPr/>
        <p:txBody>
          <a:bodyPr/>
          <a:lstStyle>
            <a:lvl1pPr>
              <a:defRPr>
                <a:latin typeface="+mj-lt"/>
              </a:defRPr>
            </a:lvl1pPr>
          </a:lstStyle>
          <a:p>
            <a:pPr>
              <a:defRPr/>
            </a:pPr>
            <a:endParaRPr lang="en-US" altLang="ja-JP"/>
          </a:p>
        </p:txBody>
      </p:sp>
    </p:spTree>
    <p:extLst>
      <p:ext uri="{BB962C8B-B14F-4D97-AF65-F5344CB8AC3E}">
        <p14:creationId xmlns:p14="http://schemas.microsoft.com/office/powerpoint/2010/main" val="3204521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6" name="タイトル 1"/>
          <p:cNvSpPr>
            <a:spLocks noGrp="1"/>
          </p:cNvSpPr>
          <p:nvPr>
            <p:ph type="title"/>
          </p:nvPr>
        </p:nvSpPr>
        <p:spPr>
          <a:xfrm>
            <a:off x="1043552" y="68684"/>
            <a:ext cx="8877745" cy="407988"/>
          </a:xfrm>
        </p:spPr>
        <p:txBody>
          <a:bodyPr/>
          <a:lstStyle>
            <a:lvl1pPr>
              <a:defRPr b="1"/>
            </a:lvl1pPr>
          </a:lstStyle>
          <a:p>
            <a:r>
              <a:rPr lang="ja-JP" altLang="en-US"/>
              <a:t>マスタ タイトルの書式設定</a:t>
            </a:r>
          </a:p>
        </p:txBody>
      </p:sp>
      <p:sp>
        <p:nvSpPr>
          <p:cNvPr id="3" name="Rectangle 5"/>
          <p:cNvSpPr>
            <a:spLocks noGrp="1" noChangeArrowheads="1"/>
          </p:cNvSpPr>
          <p:nvPr>
            <p:ph type="dt" sz="half" idx="10"/>
          </p:nvPr>
        </p:nvSpPr>
        <p:spPr/>
        <p:txBody>
          <a:bodyPr/>
          <a:lstStyle>
            <a:lvl1pPr>
              <a:defRPr/>
            </a:lvl1pPr>
          </a:lstStyle>
          <a:p>
            <a:pPr>
              <a:defRPr/>
            </a:pPr>
            <a:endParaRPr lang="en-US" altLang="ja-JP"/>
          </a:p>
        </p:txBody>
      </p:sp>
      <p:sp>
        <p:nvSpPr>
          <p:cNvPr id="4" name="Rectangle 6"/>
          <p:cNvSpPr>
            <a:spLocks noGrp="1" noChangeArrowheads="1"/>
          </p:cNvSpPr>
          <p:nvPr>
            <p:ph type="ftr" sz="quarter" idx="11"/>
          </p:nvPr>
        </p:nvSpPr>
        <p:spPr/>
        <p:txBody>
          <a:bodyPr/>
          <a:lstStyle>
            <a:lvl1pPr>
              <a:defRPr/>
            </a:lvl1pPr>
          </a:lstStyle>
          <a:p>
            <a:pPr>
              <a:defRPr/>
            </a:pPr>
            <a:endParaRPr lang="en-US" altLang="ja-JP"/>
          </a:p>
        </p:txBody>
      </p:sp>
      <p:sp>
        <p:nvSpPr>
          <p:cNvPr id="7" name="Rectangle 7"/>
          <p:cNvSpPr>
            <a:spLocks noGrp="1" noChangeArrowheads="1"/>
          </p:cNvSpPr>
          <p:nvPr>
            <p:ph type="sldNum" sz="quarter" idx="4"/>
          </p:nvPr>
        </p:nvSpPr>
        <p:spPr bwMode="auto">
          <a:xfrm>
            <a:off x="9366286" y="6570676"/>
            <a:ext cx="2845256" cy="287337"/>
          </a:xfrm>
          <a:prstGeom prst="rect">
            <a:avLst/>
          </a:prstGeom>
          <a:ln>
            <a:miter lim="800000"/>
            <a:headEnd/>
            <a:tailEnd/>
          </a:ln>
        </p:spPr>
        <p:txBody>
          <a:bodyPr vert="horz" wrap="none" lIns="72000" tIns="36000" rIns="36000" bIns="36000" numCol="1" anchor="t" anchorCtr="0" compatLnSpc="1">
            <a:prstTxWarp prst="textNoShape">
              <a:avLst/>
            </a:prstTxWarp>
          </a:bodyPr>
          <a:lstStyle>
            <a:lvl1pPr algn="r">
              <a:defRPr sz="1400" smtClean="0">
                <a:solidFill>
                  <a:srgbClr val="000000"/>
                </a:solidFill>
                <a:latin typeface="+mn-lt"/>
                <a:ea typeface="ＭＳ Ｐゴシック" pitchFamily="50" charset="-128"/>
              </a:defRPr>
            </a:lvl1pPr>
          </a:lstStyle>
          <a:p>
            <a:pPr>
              <a:defRPr/>
            </a:pPr>
            <a:fld id="{81D2FB6A-1870-4D90-8051-43D93852D7D6}" type="slidenum">
              <a:rPr lang="en-US" altLang="ja-JP"/>
              <a:pPr>
                <a:defRPr/>
              </a:pPr>
              <a:t>‹#›</a:t>
            </a:fld>
            <a:endParaRPr lang="en-US" altLang="ja-JP"/>
          </a:p>
        </p:txBody>
      </p:sp>
    </p:spTree>
    <p:extLst>
      <p:ext uri="{BB962C8B-B14F-4D97-AF65-F5344CB8AC3E}">
        <p14:creationId xmlns:p14="http://schemas.microsoft.com/office/powerpoint/2010/main" val="2877934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51D2D73-3410-7B43-83BE-D496C7D5F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CD92C1B-FB66-A241-B597-BAB0E75112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849367A-5108-1042-82CA-9EB297D285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41A4A-10A7-EB48-A69D-629BF6DDD172}" type="datetimeFigureOut">
              <a:rPr kumimoji="1" lang="ja-JP" altLang="en-US" smtClean="0"/>
              <a:t>2021/1/28</a:t>
            </a:fld>
            <a:endParaRPr kumimoji="1" lang="ja-JP" altLang="en-US"/>
          </a:p>
        </p:txBody>
      </p:sp>
      <p:sp>
        <p:nvSpPr>
          <p:cNvPr id="5" name="フッター プレースホルダー 4">
            <a:extLst>
              <a:ext uri="{FF2B5EF4-FFF2-40B4-BE49-F238E27FC236}">
                <a16:creationId xmlns:a16="http://schemas.microsoft.com/office/drawing/2014/main" id="{4E5C3478-BD58-044D-87E5-5A8285E62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19077A7-120E-5B40-B231-37A6E8A98F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EA7FF-E71D-4742-8D72-7BFC2856D734}" type="slidenum">
              <a:rPr kumimoji="1" lang="ja-JP" altLang="en-US" smtClean="0"/>
              <a:t>‹#›</a:t>
            </a:fld>
            <a:endParaRPr kumimoji="1" lang="ja-JP" altLang="en-US"/>
          </a:p>
        </p:txBody>
      </p:sp>
    </p:spTree>
    <p:extLst>
      <p:ext uri="{BB962C8B-B14F-4D97-AF65-F5344CB8AC3E}">
        <p14:creationId xmlns:p14="http://schemas.microsoft.com/office/powerpoint/2010/main" val="1566163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lideMaster_MainTitle"/>
          <p:cNvSpPr>
            <a:spLocks noGrp="1" noChangeArrowheads="1"/>
          </p:cNvSpPr>
          <p:nvPr>
            <p:ph type="title"/>
          </p:nvPr>
        </p:nvSpPr>
        <p:spPr bwMode="auto">
          <a:xfrm>
            <a:off x="1123642" y="116632"/>
            <a:ext cx="8877745" cy="407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SlideMaster_SubTitle"/>
          <p:cNvSpPr>
            <a:spLocks noGrp="1" noChangeArrowheads="1"/>
          </p:cNvSpPr>
          <p:nvPr>
            <p:ph type="body" idx="1"/>
          </p:nvPr>
        </p:nvSpPr>
        <p:spPr bwMode="auto">
          <a:xfrm>
            <a:off x="375201" y="977900"/>
            <a:ext cx="11410336" cy="5562600"/>
          </a:xfrm>
          <a:prstGeom prst="rect">
            <a:avLst/>
          </a:prstGeom>
          <a:noFill/>
          <a:ln w="9525">
            <a:solidFill>
              <a:srgbClr val="CC0000"/>
            </a:solidFill>
            <a:miter lim="800000"/>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4757" name="Rectangle 5"/>
          <p:cNvSpPr>
            <a:spLocks noGrp="1" noChangeArrowheads="1"/>
          </p:cNvSpPr>
          <p:nvPr>
            <p:ph type="dt" sz="half" idx="2"/>
          </p:nvPr>
        </p:nvSpPr>
        <p:spPr bwMode="auto">
          <a:xfrm>
            <a:off x="609698" y="6381750"/>
            <a:ext cx="2845256"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dirty="0">
                <a:solidFill>
                  <a:srgbClr val="000000"/>
                </a:solidFill>
                <a:latin typeface="Arial" charset="0"/>
                <a:ea typeface="ＭＳ Ｐゴシック" pitchFamily="50" charset="-128"/>
              </a:defRPr>
            </a:lvl1pPr>
          </a:lstStyle>
          <a:p>
            <a:pPr>
              <a:defRPr/>
            </a:pPr>
            <a:endParaRPr lang="en-US" altLang="ja-JP"/>
          </a:p>
        </p:txBody>
      </p:sp>
      <p:sp>
        <p:nvSpPr>
          <p:cNvPr id="74758" name="Rectangle 6"/>
          <p:cNvSpPr>
            <a:spLocks noGrp="1" noChangeArrowheads="1"/>
          </p:cNvSpPr>
          <p:nvPr>
            <p:ph type="ftr" sz="quarter" idx="3"/>
          </p:nvPr>
        </p:nvSpPr>
        <p:spPr bwMode="auto">
          <a:xfrm>
            <a:off x="4166276" y="6381750"/>
            <a:ext cx="385946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charset="0"/>
                <a:ea typeface="ＭＳ Ｐゴシック" pitchFamily="50" charset="-128"/>
              </a:defRPr>
            </a:lvl1pPr>
          </a:lstStyle>
          <a:p>
            <a:pPr>
              <a:defRPr/>
            </a:pPr>
            <a:endParaRPr lang="en-US" altLang="ja-JP"/>
          </a:p>
        </p:txBody>
      </p:sp>
      <p:sp>
        <p:nvSpPr>
          <p:cNvPr id="1030" name="TitleMaster_TitleDecorate"/>
          <p:cNvSpPr>
            <a:spLocks noChangeArrowheads="1"/>
          </p:cNvSpPr>
          <p:nvPr userDrawn="1"/>
        </p:nvSpPr>
        <p:spPr bwMode="auto">
          <a:xfrm>
            <a:off x="363474" y="188640"/>
            <a:ext cx="656597" cy="336550"/>
          </a:xfrm>
          <a:prstGeom prst="parallelogram">
            <a:avLst>
              <a:gd name="adj" fmla="val 39623"/>
            </a:avLst>
          </a:prstGeom>
          <a:solidFill>
            <a:srgbClr val="CC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defRPr/>
            </a:pPr>
            <a:endParaRPr lang="ja-JP" altLang="ja-JP" sz="1800">
              <a:solidFill>
                <a:srgbClr val="000000"/>
              </a:solidFill>
            </a:endParaRPr>
          </a:p>
        </p:txBody>
      </p:sp>
      <p:sp>
        <p:nvSpPr>
          <p:cNvPr id="1031" name="Line 10"/>
          <p:cNvSpPr>
            <a:spLocks noChangeShapeType="1"/>
          </p:cNvSpPr>
          <p:nvPr userDrawn="1"/>
        </p:nvSpPr>
        <p:spPr bwMode="auto">
          <a:xfrm>
            <a:off x="386926" y="507727"/>
            <a:ext cx="10226116" cy="0"/>
          </a:xfrm>
          <a:prstGeom prst="line">
            <a:avLst/>
          </a:prstGeom>
          <a:noFill/>
          <a:ln w="38100">
            <a:solidFill>
              <a:srgbClr val="CC0000"/>
            </a:solidFill>
            <a:round/>
            <a:headEnd/>
            <a:tailEnd/>
          </a:ln>
          <a:extLst>
            <a:ext uri="{909E8E84-426E-40dd-AFC4-6F175D3DCCD1}">
              <a14:hiddenFill xmlns="" xmlns:a14="http://schemas.microsoft.com/office/drawing/2010/main">
                <a:noFill/>
              </a14:hiddenFill>
            </a:ext>
          </a:extLst>
        </p:spPr>
        <p:txBody>
          <a:bodyPr/>
          <a:lstStyle/>
          <a:p>
            <a:endParaRPr lang="ja-JP" altLang="en-US" sz="1800"/>
          </a:p>
        </p:txBody>
      </p:sp>
      <p:sp>
        <p:nvSpPr>
          <p:cNvPr id="12" name="Rectangle 7"/>
          <p:cNvSpPr>
            <a:spLocks noGrp="1" noChangeArrowheads="1"/>
          </p:cNvSpPr>
          <p:nvPr>
            <p:ph type="sldNum" sz="quarter" idx="4"/>
          </p:nvPr>
        </p:nvSpPr>
        <p:spPr bwMode="auto">
          <a:xfrm>
            <a:off x="9366286" y="6570676"/>
            <a:ext cx="2845256" cy="287337"/>
          </a:xfrm>
          <a:prstGeom prst="rect">
            <a:avLst/>
          </a:prstGeom>
          <a:ln>
            <a:miter lim="800000"/>
            <a:headEnd/>
            <a:tailEnd/>
          </a:ln>
        </p:spPr>
        <p:txBody>
          <a:bodyPr vert="horz" wrap="none" lIns="72000" tIns="36000" rIns="36000" bIns="36000" numCol="1" anchor="t" anchorCtr="0" compatLnSpc="1">
            <a:prstTxWarp prst="textNoShape">
              <a:avLst/>
            </a:prstTxWarp>
          </a:bodyPr>
          <a:lstStyle>
            <a:lvl1pPr algn="r">
              <a:defRPr sz="1400" smtClean="0">
                <a:solidFill>
                  <a:srgbClr val="000000"/>
                </a:solidFill>
                <a:latin typeface="+mn-lt"/>
                <a:ea typeface="ＭＳ Ｐゴシック" pitchFamily="50" charset="-128"/>
              </a:defRPr>
            </a:lvl1pPr>
          </a:lstStyle>
          <a:p>
            <a:pPr>
              <a:defRPr/>
            </a:pPr>
            <a:fld id="{81D2FB6A-1870-4D90-8051-43D93852D7D6}" type="slidenum">
              <a:rPr lang="en-US" altLang="ja-JP"/>
              <a:pPr>
                <a:defRPr/>
              </a:pPr>
              <a:t>‹#›</a:t>
            </a:fld>
            <a:endParaRPr lang="en-US" altLang="ja-JP"/>
          </a:p>
        </p:txBody>
      </p:sp>
    </p:spTree>
    <p:extLst>
      <p:ext uri="{BB962C8B-B14F-4D97-AF65-F5344CB8AC3E}">
        <p14:creationId xmlns:p14="http://schemas.microsoft.com/office/powerpoint/2010/main" val="2134330891"/>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0" fontAlgn="base" hangingPunct="0">
        <a:spcBef>
          <a:spcPct val="0"/>
        </a:spcBef>
        <a:spcAft>
          <a:spcPct val="0"/>
        </a:spcAft>
        <a:defRPr kumimoji="1" b="1">
          <a:solidFill>
            <a:schemeClr val="tx2"/>
          </a:solidFill>
          <a:latin typeface="+mj-lt"/>
          <a:ea typeface="+mj-ea"/>
          <a:cs typeface="Meiryo UI" pitchFamily="50" charset="-128"/>
        </a:defRPr>
      </a:lvl1pPr>
      <a:lvl2pPr algn="l" rtl="0" eaLnBrk="0" fontAlgn="base" hangingPunct="0">
        <a:spcBef>
          <a:spcPct val="0"/>
        </a:spcBef>
        <a:spcAft>
          <a:spcPct val="0"/>
        </a:spcAft>
        <a:defRPr kumimoji="1" b="1">
          <a:solidFill>
            <a:schemeClr val="tx2"/>
          </a:solidFill>
          <a:latin typeface="Segoe UI" pitchFamily="34" charset="0"/>
          <a:ea typeface="Meiryo UI" pitchFamily="50" charset="-128"/>
          <a:cs typeface="Meiryo UI" pitchFamily="50" charset="-128"/>
        </a:defRPr>
      </a:lvl2pPr>
      <a:lvl3pPr algn="l" rtl="0" eaLnBrk="0" fontAlgn="base" hangingPunct="0">
        <a:spcBef>
          <a:spcPct val="0"/>
        </a:spcBef>
        <a:spcAft>
          <a:spcPct val="0"/>
        </a:spcAft>
        <a:defRPr kumimoji="1" b="1">
          <a:solidFill>
            <a:schemeClr val="tx2"/>
          </a:solidFill>
          <a:latin typeface="Segoe UI" pitchFamily="34" charset="0"/>
          <a:ea typeface="Meiryo UI" pitchFamily="50" charset="-128"/>
          <a:cs typeface="Meiryo UI" pitchFamily="50" charset="-128"/>
        </a:defRPr>
      </a:lvl3pPr>
      <a:lvl4pPr algn="l" rtl="0" eaLnBrk="0" fontAlgn="base" hangingPunct="0">
        <a:spcBef>
          <a:spcPct val="0"/>
        </a:spcBef>
        <a:spcAft>
          <a:spcPct val="0"/>
        </a:spcAft>
        <a:defRPr kumimoji="1" b="1">
          <a:solidFill>
            <a:schemeClr val="tx2"/>
          </a:solidFill>
          <a:latin typeface="Segoe UI" pitchFamily="34" charset="0"/>
          <a:ea typeface="Meiryo UI" pitchFamily="50" charset="-128"/>
          <a:cs typeface="Meiryo UI" pitchFamily="50" charset="-128"/>
        </a:defRPr>
      </a:lvl4pPr>
      <a:lvl5pPr algn="l" rtl="0" eaLnBrk="0" fontAlgn="base" hangingPunct="0">
        <a:spcBef>
          <a:spcPct val="0"/>
        </a:spcBef>
        <a:spcAft>
          <a:spcPct val="0"/>
        </a:spcAft>
        <a:defRPr kumimoji="1" b="1">
          <a:solidFill>
            <a:schemeClr val="tx2"/>
          </a:solidFill>
          <a:latin typeface="Segoe UI" pitchFamily="34" charset="0"/>
          <a:ea typeface="Meiryo UI" pitchFamily="50" charset="-128"/>
          <a:cs typeface="Meiryo UI" pitchFamily="50" charset="-128"/>
        </a:defRPr>
      </a:lvl5pPr>
      <a:lvl6pPr marL="457200" algn="l" rtl="0" fontAlgn="base">
        <a:spcBef>
          <a:spcPct val="0"/>
        </a:spcBef>
        <a:spcAft>
          <a:spcPct val="0"/>
        </a:spcAft>
        <a:defRPr kumimoji="1">
          <a:solidFill>
            <a:schemeClr val="tx2"/>
          </a:solidFill>
          <a:latin typeface="HG創英角ｺﾞｼｯｸUB" pitchFamily="49" charset="-128"/>
          <a:ea typeface="HG創英角ｺﾞｼｯｸUB" pitchFamily="49" charset="-128"/>
        </a:defRPr>
      </a:lvl6pPr>
      <a:lvl7pPr marL="914400" algn="l" rtl="0" fontAlgn="base">
        <a:spcBef>
          <a:spcPct val="0"/>
        </a:spcBef>
        <a:spcAft>
          <a:spcPct val="0"/>
        </a:spcAft>
        <a:defRPr kumimoji="1">
          <a:solidFill>
            <a:schemeClr val="tx2"/>
          </a:solidFill>
          <a:latin typeface="HG創英角ｺﾞｼｯｸUB" pitchFamily="49" charset="-128"/>
          <a:ea typeface="HG創英角ｺﾞｼｯｸUB" pitchFamily="49" charset="-128"/>
        </a:defRPr>
      </a:lvl7pPr>
      <a:lvl8pPr marL="1371600" algn="l" rtl="0" fontAlgn="base">
        <a:spcBef>
          <a:spcPct val="0"/>
        </a:spcBef>
        <a:spcAft>
          <a:spcPct val="0"/>
        </a:spcAft>
        <a:defRPr kumimoji="1">
          <a:solidFill>
            <a:schemeClr val="tx2"/>
          </a:solidFill>
          <a:latin typeface="HG創英角ｺﾞｼｯｸUB" pitchFamily="49" charset="-128"/>
          <a:ea typeface="HG創英角ｺﾞｼｯｸUB" pitchFamily="49" charset="-128"/>
        </a:defRPr>
      </a:lvl8pPr>
      <a:lvl9pPr marL="1828800" algn="l" rtl="0" fontAlgn="base">
        <a:spcBef>
          <a:spcPct val="0"/>
        </a:spcBef>
        <a:spcAft>
          <a:spcPct val="0"/>
        </a:spcAft>
        <a:defRPr kumimoji="1">
          <a:solidFill>
            <a:schemeClr val="tx2"/>
          </a:solidFill>
          <a:latin typeface="HG創英角ｺﾞｼｯｸUB" pitchFamily="49" charset="-128"/>
          <a:ea typeface="HG創英角ｺﾞｼｯｸUB" pitchFamily="49" charset="-128"/>
        </a:defRPr>
      </a:lvl9pPr>
    </p:titleStyle>
    <p:bodyStyle>
      <a:lvl1pPr marL="342900" indent="-342900" algn="l" rtl="0" eaLnBrk="0" fontAlgn="base" hangingPunct="0">
        <a:spcBef>
          <a:spcPct val="20000"/>
        </a:spcBef>
        <a:spcAft>
          <a:spcPct val="0"/>
        </a:spcAft>
        <a:buChar char="•"/>
        <a:defRPr kumimoji="1" sz="2000">
          <a:solidFill>
            <a:schemeClr val="tx1"/>
          </a:solidFill>
          <a:latin typeface="+mn-lt"/>
          <a:ea typeface="+mn-ea"/>
          <a:cs typeface="Meiryo UI" pitchFamily="50" charset="-128"/>
        </a:defRPr>
      </a:lvl1pPr>
      <a:lvl2pPr marL="742950" indent="-285750" algn="l" rtl="0" eaLnBrk="0" fontAlgn="base" hangingPunct="0">
        <a:spcBef>
          <a:spcPct val="20000"/>
        </a:spcBef>
        <a:spcAft>
          <a:spcPct val="0"/>
        </a:spcAft>
        <a:buChar char="–"/>
        <a:defRPr kumimoji="1" sz="2000">
          <a:solidFill>
            <a:schemeClr val="tx1"/>
          </a:solidFill>
          <a:latin typeface="+mn-lt"/>
          <a:ea typeface="+mn-ea"/>
          <a:cs typeface="Meiryo UI" pitchFamily="50" charset="-128"/>
        </a:defRPr>
      </a:lvl2pPr>
      <a:lvl3pPr marL="1143000" indent="-228600" algn="l" rtl="0" eaLnBrk="0" fontAlgn="base" hangingPunct="0">
        <a:spcBef>
          <a:spcPct val="20000"/>
        </a:spcBef>
        <a:spcAft>
          <a:spcPct val="0"/>
        </a:spcAft>
        <a:buChar char="•"/>
        <a:defRPr kumimoji="1" sz="2000">
          <a:solidFill>
            <a:schemeClr val="tx1"/>
          </a:solidFill>
          <a:latin typeface="+mn-lt"/>
          <a:ea typeface="+mn-ea"/>
          <a:cs typeface="Meiryo UI" pitchFamily="50" charset="-128"/>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Meiryo UI" pitchFamily="50" charset="-128"/>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Meiryo UI" pitchFamily="50" charset="-128"/>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2547774" y="1128058"/>
            <a:ext cx="6801089" cy="1938992"/>
          </a:xfrm>
          <a:prstGeom prst="rect">
            <a:avLst/>
          </a:prstGeom>
          <a:noFill/>
        </p:spPr>
        <p:txBody>
          <a:bodyPr wrap="square" rtlCol="0">
            <a:spAutoFit/>
          </a:bodyPr>
          <a:lstStyle/>
          <a:p>
            <a:pPr algn="ctr"/>
            <a:r>
              <a:rPr kumimoji="1" lang="en-US" altLang="ja-JP" sz="6000" b="1" dirty="0">
                <a:ea typeface="ＭＳ ゴシック" panose="020B0609070205080204" pitchFamily="49" charset="-128"/>
              </a:rPr>
              <a:t>IW31</a:t>
            </a:r>
            <a:r>
              <a:rPr kumimoji="1" lang="ja-JP" altLang="en-US" sz="6000" b="1">
                <a:ea typeface="ＭＳ ゴシック" panose="020B0609070205080204" pitchFamily="49" charset="-128"/>
              </a:rPr>
              <a:t>就職作品企画</a:t>
            </a:r>
            <a:endParaRPr kumimoji="1" lang="en-US" altLang="ja-JP" sz="6000" b="1" dirty="0">
              <a:ea typeface="ＭＳ ゴシック" panose="020B0609070205080204" pitchFamily="49" charset="-128"/>
            </a:endParaRPr>
          </a:p>
          <a:p>
            <a:pPr algn="ctr"/>
            <a:r>
              <a:rPr kumimoji="1" lang="ja-JP" altLang="en-US" sz="6000" b="1">
                <a:ea typeface="ＭＳ ゴシック" panose="020B0609070205080204" pitchFamily="49" charset="-128"/>
              </a:rPr>
              <a:t>ワークシート</a:t>
            </a:r>
            <a:endParaRPr kumimoji="1" lang="ja-JP" altLang="en-US" sz="6000" b="1" dirty="0">
              <a:ea typeface="ＭＳ ゴシック" panose="020B0609070205080204" pitchFamily="49" charset="-128"/>
            </a:endParaRPr>
          </a:p>
        </p:txBody>
      </p:sp>
      <p:sp>
        <p:nvSpPr>
          <p:cNvPr id="4" name="テキスト ボックス 3"/>
          <p:cNvSpPr txBox="1"/>
          <p:nvPr/>
        </p:nvSpPr>
        <p:spPr>
          <a:xfrm>
            <a:off x="1619250" y="3790950"/>
            <a:ext cx="10205038" cy="1292662"/>
          </a:xfrm>
          <a:prstGeom prst="rect">
            <a:avLst/>
          </a:prstGeom>
          <a:noFill/>
        </p:spPr>
        <p:txBody>
          <a:bodyPr wrap="none" rtlCol="0">
            <a:spAutoFit/>
          </a:bodyPr>
          <a:lstStyle/>
          <a:p>
            <a:r>
              <a:rPr kumimoji="1" lang="ja-JP" altLang="en-US" sz="2600" dirty="0"/>
              <a:t>■クラス・</a:t>
            </a:r>
            <a:r>
              <a:rPr lang="ja-JP" altLang="en-US" sz="2600" dirty="0"/>
              <a:t>氏名</a:t>
            </a:r>
            <a:r>
              <a:rPr kumimoji="1" lang="ja-JP" altLang="en-US" sz="2600"/>
              <a:t>：</a:t>
            </a:r>
            <a:r>
              <a:rPr kumimoji="1" lang="en-US" altLang="ja-JP" sz="2600" dirty="0"/>
              <a:t>IW-13A-004</a:t>
            </a:r>
            <a:r>
              <a:rPr kumimoji="1" lang="ja-JP" altLang="en-US" sz="2600"/>
              <a:t>（</a:t>
            </a:r>
            <a:r>
              <a:rPr lang="en-US" altLang="ja-JP" sz="2600" dirty="0"/>
              <a:t>13</a:t>
            </a:r>
            <a:r>
              <a:rPr kumimoji="1" lang="ja-JP" altLang="en-US" sz="2600"/>
              <a:t>）宮下裕希</a:t>
            </a:r>
            <a:endParaRPr kumimoji="1" lang="en-US" altLang="ja-JP" sz="2600" dirty="0"/>
          </a:p>
          <a:p>
            <a:endParaRPr lang="en-US" altLang="ja-JP" sz="2600" dirty="0"/>
          </a:p>
          <a:p>
            <a:r>
              <a:rPr kumimoji="1" lang="ja-JP" altLang="en-US" sz="2600" dirty="0"/>
              <a:t>■システム・</a:t>
            </a:r>
            <a:r>
              <a:rPr kumimoji="1" lang="ja-JP" altLang="en-US" sz="2600"/>
              <a:t>サービス名：</a:t>
            </a:r>
            <a:r>
              <a:rPr lang="en-US" altLang="ja-JP" sz="2600" dirty="0"/>
              <a:t> </a:t>
            </a:r>
            <a:r>
              <a:rPr lang="ja-JP" altLang="en-US" sz="2600"/>
              <a:t>　　　　　　</a:t>
            </a:r>
            <a:r>
              <a:rPr lang="en-US" altLang="ja-JP" sz="2600" dirty="0"/>
              <a:t>(</a:t>
            </a:r>
            <a:r>
              <a:rPr lang="ja-JP" altLang="en-US" sz="2600"/>
              <a:t>ドッグ＆コミュニティ</a:t>
            </a:r>
            <a:r>
              <a:rPr lang="en-US" altLang="ja-JP" sz="2600" dirty="0"/>
              <a:t>)</a:t>
            </a:r>
            <a:endParaRPr kumimoji="1" lang="ja-JP" altLang="en-US" sz="2600" dirty="0"/>
          </a:p>
        </p:txBody>
      </p:sp>
      <p:graphicFrame>
        <p:nvGraphicFramePr>
          <p:cNvPr id="2" name="表 1">
            <a:extLst>
              <a:ext uri="{FF2B5EF4-FFF2-40B4-BE49-F238E27FC236}">
                <a16:creationId xmlns:a16="http://schemas.microsoft.com/office/drawing/2014/main" id="{BA3D29F1-6B1E-6240-B7E4-E0C826C9FA41}"/>
              </a:ext>
            </a:extLst>
          </p:cNvPr>
          <p:cNvGraphicFramePr>
            <a:graphicFrameLocks noGrp="1"/>
          </p:cNvGraphicFramePr>
          <p:nvPr>
            <p:extLst>
              <p:ext uri="{D42A27DB-BD31-4B8C-83A1-F6EECF244321}">
                <p14:modId xmlns:p14="http://schemas.microsoft.com/office/powerpoint/2010/main" val="1481029299"/>
              </p:ext>
            </p:extLst>
          </p:nvPr>
        </p:nvGraphicFramePr>
        <p:xfrm>
          <a:off x="5770803" y="4700731"/>
          <a:ext cx="1892300" cy="283029"/>
        </p:xfrm>
        <a:graphic>
          <a:graphicData uri="http://schemas.openxmlformats.org/drawingml/2006/table">
            <a:tbl>
              <a:tblPr>
                <a:tableStyleId>{5C22544A-7EE6-4342-B048-85BDC9FD1C3A}</a:tableStyleId>
              </a:tblPr>
              <a:tblGrid>
                <a:gridCol w="1892300">
                  <a:extLst>
                    <a:ext uri="{9D8B030D-6E8A-4147-A177-3AD203B41FA5}">
                      <a16:colId xmlns:a16="http://schemas.microsoft.com/office/drawing/2014/main" val="1282451194"/>
                    </a:ext>
                  </a:extLst>
                </a:gridCol>
              </a:tblGrid>
              <a:tr h="283029">
                <a:tc>
                  <a:txBody>
                    <a:bodyPr/>
                    <a:lstStyle/>
                    <a:p>
                      <a:pPr algn="l" fontAlgn="b"/>
                      <a:r>
                        <a:rPr lang="en" sz="1600" u="none" strike="noStrike" dirty="0">
                          <a:effectLst/>
                        </a:rPr>
                        <a:t>dog walk treatment</a:t>
                      </a:r>
                      <a:endParaRPr lang="en" sz="160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9525" marR="9525" marT="9525" marB="0" anchor="b"/>
                </a:tc>
                <a:extLst>
                  <a:ext uri="{0D108BD9-81ED-4DB2-BD59-A6C34878D82A}">
                    <a16:rowId xmlns:a16="http://schemas.microsoft.com/office/drawing/2014/main" val="3140455176"/>
                  </a:ext>
                </a:extLst>
              </a:tr>
            </a:tbl>
          </a:graphicData>
        </a:graphic>
      </p:graphicFrame>
    </p:spTree>
    <p:extLst>
      <p:ext uri="{BB962C8B-B14F-4D97-AF65-F5344CB8AC3E}">
        <p14:creationId xmlns:p14="http://schemas.microsoft.com/office/powerpoint/2010/main" val="4083021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71B2CC28-5463-184D-AC16-E8D3F96A47AB}"/>
              </a:ext>
            </a:extLst>
          </p:cNvPr>
          <p:cNvSpPr txBox="1"/>
          <p:nvPr/>
        </p:nvSpPr>
        <p:spPr>
          <a:xfrm>
            <a:off x="0" y="0"/>
            <a:ext cx="3506088" cy="369332"/>
          </a:xfrm>
          <a:prstGeom prst="rect">
            <a:avLst/>
          </a:prstGeom>
          <a:noFill/>
        </p:spPr>
        <p:txBody>
          <a:bodyPr wrap="none" rtlCol="0">
            <a:spAutoFit/>
          </a:bodyPr>
          <a:lstStyle/>
          <a:p>
            <a:r>
              <a:rPr kumimoji="1" lang="en-US" altLang="ja-JP" b="1" dirty="0"/>
              <a:t>IW31</a:t>
            </a:r>
            <a:r>
              <a:rPr kumimoji="1" lang="ja-JP" altLang="en-US" b="1"/>
              <a:t>就職作品企画</a:t>
            </a:r>
            <a:r>
              <a:rPr kumimoji="1" lang="ja-JP" altLang="en-US" b="1" dirty="0"/>
              <a:t>ワークシート</a:t>
            </a:r>
          </a:p>
        </p:txBody>
      </p:sp>
      <p:sp>
        <p:nvSpPr>
          <p:cNvPr id="24" name="正方形/長方形 23">
            <a:extLst>
              <a:ext uri="{FF2B5EF4-FFF2-40B4-BE49-F238E27FC236}">
                <a16:creationId xmlns:a16="http://schemas.microsoft.com/office/drawing/2014/main" id="{F9C28F9D-D81B-D94D-A59E-ECEDC59BE5AD}"/>
              </a:ext>
            </a:extLst>
          </p:cNvPr>
          <p:cNvSpPr/>
          <p:nvPr/>
        </p:nvSpPr>
        <p:spPr>
          <a:xfrm>
            <a:off x="266700" y="369332"/>
            <a:ext cx="7835900" cy="303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ステップ１：共感</a:t>
            </a:r>
          </a:p>
        </p:txBody>
      </p:sp>
      <p:sp>
        <p:nvSpPr>
          <p:cNvPr id="25" name="正方形/長方形 24">
            <a:extLst>
              <a:ext uri="{FF2B5EF4-FFF2-40B4-BE49-F238E27FC236}">
                <a16:creationId xmlns:a16="http://schemas.microsoft.com/office/drawing/2014/main" id="{36CBE329-91DC-4E44-AB87-3AF3150A3378}"/>
              </a:ext>
            </a:extLst>
          </p:cNvPr>
          <p:cNvSpPr/>
          <p:nvPr/>
        </p:nvSpPr>
        <p:spPr>
          <a:xfrm>
            <a:off x="8407100" y="363522"/>
            <a:ext cx="3613449" cy="312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ステップ２：問題定義</a:t>
            </a:r>
          </a:p>
        </p:txBody>
      </p:sp>
      <p:graphicFrame>
        <p:nvGraphicFramePr>
          <p:cNvPr id="26" name="表 25">
            <a:extLst>
              <a:ext uri="{FF2B5EF4-FFF2-40B4-BE49-F238E27FC236}">
                <a16:creationId xmlns:a16="http://schemas.microsoft.com/office/drawing/2014/main" id="{30FD5856-2880-A74D-924E-DB1879F35ACF}"/>
              </a:ext>
            </a:extLst>
          </p:cNvPr>
          <p:cNvGraphicFramePr>
            <a:graphicFrameLocks noGrp="1"/>
          </p:cNvGraphicFramePr>
          <p:nvPr>
            <p:extLst>
              <p:ext uri="{D42A27DB-BD31-4B8C-83A1-F6EECF244321}">
                <p14:modId xmlns:p14="http://schemas.microsoft.com/office/powerpoint/2010/main" val="213762323"/>
              </p:ext>
            </p:extLst>
          </p:nvPr>
        </p:nvGraphicFramePr>
        <p:xfrm>
          <a:off x="266700" y="1080165"/>
          <a:ext cx="7835900" cy="5660190"/>
        </p:xfrm>
        <a:graphic>
          <a:graphicData uri="http://schemas.openxmlformats.org/drawingml/2006/table">
            <a:tbl>
              <a:tblPr firstRow="1" bandRow="1">
                <a:tableStyleId>{5940675A-B579-460E-94D1-54222C63F5DA}</a:tableStyleId>
              </a:tblPr>
              <a:tblGrid>
                <a:gridCol w="3917950">
                  <a:extLst>
                    <a:ext uri="{9D8B030D-6E8A-4147-A177-3AD203B41FA5}">
                      <a16:colId xmlns:a16="http://schemas.microsoft.com/office/drawing/2014/main" val="2689314804"/>
                    </a:ext>
                  </a:extLst>
                </a:gridCol>
                <a:gridCol w="3917950">
                  <a:extLst>
                    <a:ext uri="{9D8B030D-6E8A-4147-A177-3AD203B41FA5}">
                      <a16:colId xmlns:a16="http://schemas.microsoft.com/office/drawing/2014/main" val="3546175948"/>
                    </a:ext>
                  </a:extLst>
                </a:gridCol>
              </a:tblGrid>
              <a:tr h="2830095">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896300973"/>
                  </a:ext>
                </a:extLst>
              </a:tr>
              <a:tr h="2830095">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4244219082"/>
                  </a:ext>
                </a:extLst>
              </a:tr>
            </a:tbl>
          </a:graphicData>
        </a:graphic>
      </p:graphicFrame>
      <p:pic>
        <p:nvPicPr>
          <p:cNvPr id="27" name="図 26">
            <a:extLst>
              <a:ext uri="{FF2B5EF4-FFF2-40B4-BE49-F238E27FC236}">
                <a16:creationId xmlns:a16="http://schemas.microsoft.com/office/drawing/2014/main" id="{D2E473B1-F4D7-8749-8F14-0405AFE559A2}"/>
              </a:ext>
            </a:extLst>
          </p:cNvPr>
          <p:cNvPicPr>
            <a:picLocks noChangeAspect="1"/>
          </p:cNvPicPr>
          <p:nvPr/>
        </p:nvPicPr>
        <p:blipFill rotWithShape="1">
          <a:blip r:embed="rId2"/>
          <a:srcRect l="8334" t="23334" r="8332" b="32564"/>
          <a:stretch/>
        </p:blipFill>
        <p:spPr>
          <a:xfrm>
            <a:off x="3490662" y="3450802"/>
            <a:ext cx="1387976" cy="728262"/>
          </a:xfrm>
          <a:prstGeom prst="rect">
            <a:avLst/>
          </a:prstGeom>
        </p:spPr>
      </p:pic>
      <p:sp>
        <p:nvSpPr>
          <p:cNvPr id="28" name="テキスト ボックス 27">
            <a:extLst>
              <a:ext uri="{FF2B5EF4-FFF2-40B4-BE49-F238E27FC236}">
                <a16:creationId xmlns:a16="http://schemas.microsoft.com/office/drawing/2014/main" id="{DC6844A5-D571-FB43-9C8F-A9E6BF00BBA4}"/>
              </a:ext>
            </a:extLst>
          </p:cNvPr>
          <p:cNvSpPr txBox="1"/>
          <p:nvPr/>
        </p:nvSpPr>
        <p:spPr>
          <a:xfrm>
            <a:off x="266700" y="1080165"/>
            <a:ext cx="2587568" cy="584775"/>
          </a:xfrm>
          <a:prstGeom prst="rect">
            <a:avLst/>
          </a:prstGeom>
          <a:noFill/>
        </p:spPr>
        <p:txBody>
          <a:bodyPr wrap="none" rtlCol="0">
            <a:spAutoFit/>
          </a:bodyPr>
          <a:lstStyle/>
          <a:p>
            <a:r>
              <a:rPr kumimoji="1" lang="en-US" altLang="ja-JP" b="1" dirty="0"/>
              <a:t>SAY</a:t>
            </a:r>
          </a:p>
          <a:p>
            <a:r>
              <a:rPr kumimoji="1" lang="en-US" altLang="ja-JP" sz="1400" dirty="0"/>
              <a:t>(</a:t>
            </a:r>
            <a:r>
              <a:rPr kumimoji="1" lang="ja-JP" altLang="en-US" sz="1400"/>
              <a:t>何が問題だと言っている？）</a:t>
            </a:r>
          </a:p>
        </p:txBody>
      </p:sp>
      <p:sp>
        <p:nvSpPr>
          <p:cNvPr id="29" name="テキスト ボックス 28">
            <a:extLst>
              <a:ext uri="{FF2B5EF4-FFF2-40B4-BE49-F238E27FC236}">
                <a16:creationId xmlns:a16="http://schemas.microsoft.com/office/drawing/2014/main" id="{B449C968-65BC-9F49-B121-3876A3551C0A}"/>
              </a:ext>
            </a:extLst>
          </p:cNvPr>
          <p:cNvSpPr txBox="1"/>
          <p:nvPr/>
        </p:nvSpPr>
        <p:spPr>
          <a:xfrm>
            <a:off x="315141" y="3910260"/>
            <a:ext cx="3126177" cy="584775"/>
          </a:xfrm>
          <a:prstGeom prst="rect">
            <a:avLst/>
          </a:prstGeom>
          <a:noFill/>
        </p:spPr>
        <p:txBody>
          <a:bodyPr wrap="none" rtlCol="0">
            <a:spAutoFit/>
          </a:bodyPr>
          <a:lstStyle/>
          <a:p>
            <a:r>
              <a:rPr kumimoji="1" lang="en-US" altLang="ja-JP" b="1" dirty="0"/>
              <a:t>DO</a:t>
            </a:r>
          </a:p>
          <a:p>
            <a:r>
              <a:rPr kumimoji="1" lang="en-US" altLang="ja-JP" sz="1400" dirty="0"/>
              <a:t>(</a:t>
            </a:r>
            <a:r>
              <a:rPr kumimoji="1" lang="ja-JP" altLang="en-US" sz="1400"/>
              <a:t>その問題に今どう対処している？）</a:t>
            </a:r>
            <a:endParaRPr kumimoji="1" lang="ja-JP" altLang="en-US" sz="1200"/>
          </a:p>
        </p:txBody>
      </p:sp>
      <p:sp>
        <p:nvSpPr>
          <p:cNvPr id="30" name="テキスト ボックス 29">
            <a:extLst>
              <a:ext uri="{FF2B5EF4-FFF2-40B4-BE49-F238E27FC236}">
                <a16:creationId xmlns:a16="http://schemas.microsoft.com/office/drawing/2014/main" id="{5A3F3AA9-1488-C74A-8826-CF730B67C2EE}"/>
              </a:ext>
            </a:extLst>
          </p:cNvPr>
          <p:cNvSpPr txBox="1"/>
          <p:nvPr/>
        </p:nvSpPr>
        <p:spPr>
          <a:xfrm>
            <a:off x="4734720" y="3974809"/>
            <a:ext cx="3416321" cy="584775"/>
          </a:xfrm>
          <a:prstGeom prst="rect">
            <a:avLst/>
          </a:prstGeom>
          <a:noFill/>
        </p:spPr>
        <p:txBody>
          <a:bodyPr wrap="none" rtlCol="0">
            <a:spAutoFit/>
          </a:bodyPr>
          <a:lstStyle/>
          <a:p>
            <a:pPr algn="r"/>
            <a:r>
              <a:rPr kumimoji="1" lang="en-US" altLang="ja-JP" b="1" dirty="0"/>
              <a:t>FEEL</a:t>
            </a:r>
          </a:p>
          <a:p>
            <a:pPr algn="r"/>
            <a:r>
              <a:rPr lang="ja-JP" altLang="en-US" sz="1400"/>
              <a:t>（問題発生時、どういう感情を持つ？）</a:t>
            </a:r>
            <a:endParaRPr kumimoji="1" lang="ja-JP" altLang="en-US" sz="1400"/>
          </a:p>
        </p:txBody>
      </p:sp>
      <p:sp>
        <p:nvSpPr>
          <p:cNvPr id="31" name="テキスト ボックス 30">
            <a:extLst>
              <a:ext uri="{FF2B5EF4-FFF2-40B4-BE49-F238E27FC236}">
                <a16:creationId xmlns:a16="http://schemas.microsoft.com/office/drawing/2014/main" id="{E15D6233-97E2-A94F-9022-C3947596570A}"/>
              </a:ext>
            </a:extLst>
          </p:cNvPr>
          <p:cNvSpPr txBox="1"/>
          <p:nvPr/>
        </p:nvSpPr>
        <p:spPr>
          <a:xfrm>
            <a:off x="4976423" y="1093896"/>
            <a:ext cx="3126177" cy="553998"/>
          </a:xfrm>
          <a:prstGeom prst="rect">
            <a:avLst/>
          </a:prstGeom>
          <a:noFill/>
        </p:spPr>
        <p:txBody>
          <a:bodyPr wrap="none" rtlCol="0">
            <a:spAutoFit/>
          </a:bodyPr>
          <a:lstStyle/>
          <a:p>
            <a:pPr algn="r"/>
            <a:r>
              <a:rPr kumimoji="1" lang="en-US" altLang="ja-JP" sz="1600" b="1" dirty="0"/>
              <a:t>THINK</a:t>
            </a:r>
          </a:p>
          <a:p>
            <a:pPr algn="r"/>
            <a:r>
              <a:rPr lang="en-US" altLang="ja-JP" sz="1400" dirty="0"/>
              <a:t>(</a:t>
            </a:r>
            <a:r>
              <a:rPr lang="ja-JP" altLang="en-US" sz="1400"/>
              <a:t>ユーザにとって大事なことは何？）</a:t>
            </a:r>
            <a:endParaRPr kumimoji="1" lang="ja-JP" altLang="en-US" sz="1400" b="1"/>
          </a:p>
        </p:txBody>
      </p:sp>
      <p:sp>
        <p:nvSpPr>
          <p:cNvPr id="32" name="テキスト ボックス 31">
            <a:extLst>
              <a:ext uri="{FF2B5EF4-FFF2-40B4-BE49-F238E27FC236}">
                <a16:creationId xmlns:a16="http://schemas.microsoft.com/office/drawing/2014/main" id="{2814325D-7931-584E-B5E2-C7FBFE24DB75}"/>
              </a:ext>
            </a:extLst>
          </p:cNvPr>
          <p:cNvSpPr txBox="1"/>
          <p:nvPr/>
        </p:nvSpPr>
        <p:spPr>
          <a:xfrm>
            <a:off x="3687606" y="3910260"/>
            <a:ext cx="974723" cy="41549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kumimoji="1" lang="ja-JP" altLang="en-US" sz="1050">
                <a:solidFill>
                  <a:schemeClr val="tx1"/>
                </a:solidFill>
              </a:rPr>
              <a:t>ユーザー：</a:t>
            </a:r>
            <a:endParaRPr kumimoji="1" lang="en-US" altLang="ja-JP" sz="1050" dirty="0">
              <a:solidFill>
                <a:schemeClr val="tx1"/>
              </a:solidFill>
            </a:endParaRPr>
          </a:p>
          <a:p>
            <a:pPr algn="ctr"/>
            <a:endParaRPr kumimoji="1" lang="en-US" altLang="ja-JP" sz="1050" dirty="0">
              <a:solidFill>
                <a:schemeClr val="tx1"/>
              </a:solidFill>
            </a:endParaRPr>
          </a:p>
        </p:txBody>
      </p:sp>
      <p:graphicFrame>
        <p:nvGraphicFramePr>
          <p:cNvPr id="33" name="表 32">
            <a:extLst>
              <a:ext uri="{FF2B5EF4-FFF2-40B4-BE49-F238E27FC236}">
                <a16:creationId xmlns:a16="http://schemas.microsoft.com/office/drawing/2014/main" id="{0634C7E2-998B-8E4D-8BBE-9B21BCD5D63D}"/>
              </a:ext>
            </a:extLst>
          </p:cNvPr>
          <p:cNvGraphicFramePr>
            <a:graphicFrameLocks noGrp="1"/>
          </p:cNvGraphicFramePr>
          <p:nvPr>
            <p:extLst>
              <p:ext uri="{D42A27DB-BD31-4B8C-83A1-F6EECF244321}">
                <p14:modId xmlns:p14="http://schemas.microsoft.com/office/powerpoint/2010/main" val="1637159580"/>
              </p:ext>
            </p:extLst>
          </p:nvPr>
        </p:nvGraphicFramePr>
        <p:xfrm>
          <a:off x="8407101" y="1093895"/>
          <a:ext cx="3635308" cy="5646460"/>
        </p:xfrm>
        <a:graphic>
          <a:graphicData uri="http://schemas.openxmlformats.org/drawingml/2006/table">
            <a:tbl>
              <a:tblPr firstRow="1" bandRow="1">
                <a:tableStyleId>{5940675A-B579-460E-94D1-54222C63F5DA}</a:tableStyleId>
              </a:tblPr>
              <a:tblGrid>
                <a:gridCol w="3635308">
                  <a:extLst>
                    <a:ext uri="{9D8B030D-6E8A-4147-A177-3AD203B41FA5}">
                      <a16:colId xmlns:a16="http://schemas.microsoft.com/office/drawing/2014/main" val="1729391388"/>
                    </a:ext>
                  </a:extLst>
                </a:gridCol>
              </a:tblGrid>
              <a:tr h="2823230">
                <a:tc>
                  <a:txBody>
                    <a:bodyPr/>
                    <a:lstStyle/>
                    <a:p>
                      <a:r>
                        <a:rPr kumimoji="1" lang="ja-JP" altLang="en-US" sz="1800" b="1"/>
                        <a:t>①ユーザをどういう状態にできたら問題は解決したと言える？</a:t>
                      </a:r>
                    </a:p>
                  </a:txBody>
                  <a:tcPr/>
                </a:tc>
                <a:extLst>
                  <a:ext uri="{0D108BD9-81ED-4DB2-BD59-A6C34878D82A}">
                    <a16:rowId xmlns:a16="http://schemas.microsoft.com/office/drawing/2014/main" val="2547054461"/>
                  </a:ext>
                </a:extLst>
              </a:tr>
              <a:tr h="2823230">
                <a:tc>
                  <a:txBody>
                    <a:bodyPr/>
                    <a:lstStyle/>
                    <a:p>
                      <a:r>
                        <a:rPr kumimoji="1" lang="ja-JP" altLang="en-US" b="1" dirty="0"/>
                        <a:t>②そのために乗り越えないといけない壁は何？</a:t>
                      </a:r>
                    </a:p>
                  </a:txBody>
                  <a:tcPr/>
                </a:tc>
                <a:extLst>
                  <a:ext uri="{0D108BD9-81ED-4DB2-BD59-A6C34878D82A}">
                    <a16:rowId xmlns:a16="http://schemas.microsoft.com/office/drawing/2014/main" val="1990001399"/>
                  </a:ext>
                </a:extLst>
              </a:tr>
            </a:tbl>
          </a:graphicData>
        </a:graphic>
      </p:graphicFrame>
      <p:sp>
        <p:nvSpPr>
          <p:cNvPr id="34" name="正方形/長方形 33">
            <a:extLst>
              <a:ext uri="{FF2B5EF4-FFF2-40B4-BE49-F238E27FC236}">
                <a16:creationId xmlns:a16="http://schemas.microsoft.com/office/drawing/2014/main" id="{F9C28F9D-D81B-D94D-A59E-ECEDC59BE5AD}"/>
              </a:ext>
            </a:extLst>
          </p:cNvPr>
          <p:cNvSpPr/>
          <p:nvPr/>
        </p:nvSpPr>
        <p:spPr>
          <a:xfrm>
            <a:off x="266700" y="369332"/>
            <a:ext cx="7835900" cy="303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ステップ１：共感</a:t>
            </a:r>
          </a:p>
        </p:txBody>
      </p:sp>
      <p:sp>
        <p:nvSpPr>
          <p:cNvPr id="35" name="正方形/長方形 34">
            <a:extLst>
              <a:ext uri="{FF2B5EF4-FFF2-40B4-BE49-F238E27FC236}">
                <a16:creationId xmlns:a16="http://schemas.microsoft.com/office/drawing/2014/main" id="{36CBE329-91DC-4E44-AB87-3AF3150A3378}"/>
              </a:ext>
            </a:extLst>
          </p:cNvPr>
          <p:cNvSpPr/>
          <p:nvPr/>
        </p:nvSpPr>
        <p:spPr>
          <a:xfrm>
            <a:off x="8407100" y="363522"/>
            <a:ext cx="3613449" cy="312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ステップ２：問題定義</a:t>
            </a:r>
          </a:p>
        </p:txBody>
      </p:sp>
      <p:sp>
        <p:nvSpPr>
          <p:cNvPr id="36" name="左右矢印 35">
            <a:extLst>
              <a:ext uri="{FF2B5EF4-FFF2-40B4-BE49-F238E27FC236}">
                <a16:creationId xmlns:a16="http://schemas.microsoft.com/office/drawing/2014/main" id="{2BA303AC-E696-5143-910E-41C703636025}"/>
              </a:ext>
            </a:extLst>
          </p:cNvPr>
          <p:cNvSpPr/>
          <p:nvPr/>
        </p:nvSpPr>
        <p:spPr>
          <a:xfrm>
            <a:off x="271012" y="643448"/>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600"/>
              <a:t>①観察し、見たそのままを書く</a:t>
            </a:r>
          </a:p>
        </p:txBody>
      </p:sp>
      <p:sp>
        <p:nvSpPr>
          <p:cNvPr id="37" name="左右矢印 36">
            <a:extLst>
              <a:ext uri="{FF2B5EF4-FFF2-40B4-BE49-F238E27FC236}">
                <a16:creationId xmlns:a16="http://schemas.microsoft.com/office/drawing/2014/main" id="{7FF26240-4865-BD42-9AB6-00ECA1694BF3}"/>
              </a:ext>
            </a:extLst>
          </p:cNvPr>
          <p:cNvSpPr/>
          <p:nvPr/>
        </p:nvSpPr>
        <p:spPr>
          <a:xfrm>
            <a:off x="4188962" y="643448"/>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ja-JP" altLang="en-US" sz="1600"/>
              <a:t>②</a:t>
            </a:r>
            <a:r>
              <a:rPr kumimoji="1" lang="ja-JP" altLang="en-US" sz="1600"/>
              <a:t>思考・気持ちを推察して書く</a:t>
            </a:r>
          </a:p>
        </p:txBody>
      </p:sp>
      <p:sp>
        <p:nvSpPr>
          <p:cNvPr id="38" name="左右矢印 37">
            <a:extLst>
              <a:ext uri="{FF2B5EF4-FFF2-40B4-BE49-F238E27FC236}">
                <a16:creationId xmlns:a16="http://schemas.microsoft.com/office/drawing/2014/main" id="{9D870843-F8E4-794B-A985-F41C0D8305FC}"/>
              </a:ext>
            </a:extLst>
          </p:cNvPr>
          <p:cNvSpPr/>
          <p:nvPr/>
        </p:nvSpPr>
        <p:spPr>
          <a:xfrm>
            <a:off x="8262320" y="641665"/>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600"/>
              <a:t>③根本原因を考える</a:t>
            </a:r>
          </a:p>
        </p:txBody>
      </p:sp>
      <p:sp>
        <p:nvSpPr>
          <p:cNvPr id="20" name="テキスト ボックス 19">
            <a:extLst>
              <a:ext uri="{FF2B5EF4-FFF2-40B4-BE49-F238E27FC236}">
                <a16:creationId xmlns:a16="http://schemas.microsoft.com/office/drawing/2014/main" id="{705B19C2-63E3-594B-B64B-F3EF3962DEB6}"/>
              </a:ext>
            </a:extLst>
          </p:cNvPr>
          <p:cNvSpPr txBox="1"/>
          <p:nvPr/>
        </p:nvSpPr>
        <p:spPr>
          <a:xfrm>
            <a:off x="0" y="0"/>
            <a:ext cx="3506088" cy="369332"/>
          </a:xfrm>
          <a:prstGeom prst="rect">
            <a:avLst/>
          </a:prstGeom>
          <a:noFill/>
        </p:spPr>
        <p:txBody>
          <a:bodyPr wrap="none" rtlCol="0">
            <a:spAutoFit/>
          </a:bodyPr>
          <a:lstStyle/>
          <a:p>
            <a:r>
              <a:rPr kumimoji="1" lang="en-US" altLang="ja-JP" b="1" dirty="0"/>
              <a:t>IW31</a:t>
            </a:r>
            <a:r>
              <a:rPr kumimoji="1" lang="ja-JP" altLang="en-US" b="1"/>
              <a:t>就職作品企画</a:t>
            </a:r>
            <a:r>
              <a:rPr kumimoji="1" lang="ja-JP" altLang="en-US" b="1" dirty="0"/>
              <a:t>ワークシート</a:t>
            </a:r>
          </a:p>
        </p:txBody>
      </p:sp>
      <p:sp>
        <p:nvSpPr>
          <p:cNvPr id="21" name="正方形/長方形 20">
            <a:extLst>
              <a:ext uri="{FF2B5EF4-FFF2-40B4-BE49-F238E27FC236}">
                <a16:creationId xmlns:a16="http://schemas.microsoft.com/office/drawing/2014/main" id="{5C7C8A43-22F5-C848-A8B9-CE2431CC6217}"/>
              </a:ext>
            </a:extLst>
          </p:cNvPr>
          <p:cNvSpPr/>
          <p:nvPr/>
        </p:nvSpPr>
        <p:spPr>
          <a:xfrm>
            <a:off x="266700" y="369332"/>
            <a:ext cx="7835900" cy="303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ステップ１：共感</a:t>
            </a:r>
          </a:p>
        </p:txBody>
      </p:sp>
      <p:sp>
        <p:nvSpPr>
          <p:cNvPr id="22" name="正方形/長方形 21">
            <a:extLst>
              <a:ext uri="{FF2B5EF4-FFF2-40B4-BE49-F238E27FC236}">
                <a16:creationId xmlns:a16="http://schemas.microsoft.com/office/drawing/2014/main" id="{47EA8DB4-0D24-634A-8446-657F950D5CEF}"/>
              </a:ext>
            </a:extLst>
          </p:cNvPr>
          <p:cNvSpPr/>
          <p:nvPr/>
        </p:nvSpPr>
        <p:spPr>
          <a:xfrm>
            <a:off x="8407100" y="363522"/>
            <a:ext cx="3613449" cy="312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ステップ２：問題定義</a:t>
            </a:r>
          </a:p>
        </p:txBody>
      </p:sp>
      <p:graphicFrame>
        <p:nvGraphicFramePr>
          <p:cNvPr id="39" name="表 38">
            <a:extLst>
              <a:ext uri="{FF2B5EF4-FFF2-40B4-BE49-F238E27FC236}">
                <a16:creationId xmlns:a16="http://schemas.microsoft.com/office/drawing/2014/main" id="{5D8ED614-929F-0E41-AE43-E8B920E1B10F}"/>
              </a:ext>
            </a:extLst>
          </p:cNvPr>
          <p:cNvGraphicFramePr>
            <a:graphicFrameLocks noGrp="1"/>
          </p:cNvGraphicFramePr>
          <p:nvPr>
            <p:extLst>
              <p:ext uri="{D42A27DB-BD31-4B8C-83A1-F6EECF244321}">
                <p14:modId xmlns:p14="http://schemas.microsoft.com/office/powerpoint/2010/main" val="1603126392"/>
              </p:ext>
            </p:extLst>
          </p:nvPr>
        </p:nvGraphicFramePr>
        <p:xfrm>
          <a:off x="266700" y="1080165"/>
          <a:ext cx="7835900" cy="5660190"/>
        </p:xfrm>
        <a:graphic>
          <a:graphicData uri="http://schemas.openxmlformats.org/drawingml/2006/table">
            <a:tbl>
              <a:tblPr firstRow="1" bandRow="1">
                <a:tableStyleId>{5940675A-B579-460E-94D1-54222C63F5DA}</a:tableStyleId>
              </a:tblPr>
              <a:tblGrid>
                <a:gridCol w="3917950">
                  <a:extLst>
                    <a:ext uri="{9D8B030D-6E8A-4147-A177-3AD203B41FA5}">
                      <a16:colId xmlns:a16="http://schemas.microsoft.com/office/drawing/2014/main" val="2689314804"/>
                    </a:ext>
                  </a:extLst>
                </a:gridCol>
                <a:gridCol w="3917950">
                  <a:extLst>
                    <a:ext uri="{9D8B030D-6E8A-4147-A177-3AD203B41FA5}">
                      <a16:colId xmlns:a16="http://schemas.microsoft.com/office/drawing/2014/main" val="3546175948"/>
                    </a:ext>
                  </a:extLst>
                </a:gridCol>
              </a:tblGrid>
              <a:tr h="2830095">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896300973"/>
                  </a:ext>
                </a:extLst>
              </a:tr>
              <a:tr h="2830095">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4244219082"/>
                  </a:ext>
                </a:extLst>
              </a:tr>
            </a:tbl>
          </a:graphicData>
        </a:graphic>
      </p:graphicFrame>
      <p:pic>
        <p:nvPicPr>
          <p:cNvPr id="40" name="図 39">
            <a:extLst>
              <a:ext uri="{FF2B5EF4-FFF2-40B4-BE49-F238E27FC236}">
                <a16:creationId xmlns:a16="http://schemas.microsoft.com/office/drawing/2014/main" id="{DEABDEFA-8B56-B644-87B3-480F4FF8D9A6}"/>
              </a:ext>
            </a:extLst>
          </p:cNvPr>
          <p:cNvPicPr>
            <a:picLocks noChangeAspect="1"/>
          </p:cNvPicPr>
          <p:nvPr/>
        </p:nvPicPr>
        <p:blipFill rotWithShape="1">
          <a:blip r:embed="rId2"/>
          <a:srcRect l="8334" t="23334" r="8332" b="32564"/>
          <a:stretch/>
        </p:blipFill>
        <p:spPr>
          <a:xfrm>
            <a:off x="3489759" y="3269686"/>
            <a:ext cx="1387976" cy="728262"/>
          </a:xfrm>
          <a:prstGeom prst="rect">
            <a:avLst/>
          </a:prstGeom>
        </p:spPr>
      </p:pic>
      <p:sp>
        <p:nvSpPr>
          <p:cNvPr id="41" name="テキスト ボックス 40">
            <a:extLst>
              <a:ext uri="{FF2B5EF4-FFF2-40B4-BE49-F238E27FC236}">
                <a16:creationId xmlns:a16="http://schemas.microsoft.com/office/drawing/2014/main" id="{AF28DDBE-A5AA-C94F-8778-BDD5FFF6F7AE}"/>
              </a:ext>
            </a:extLst>
          </p:cNvPr>
          <p:cNvSpPr txBox="1"/>
          <p:nvPr/>
        </p:nvSpPr>
        <p:spPr>
          <a:xfrm>
            <a:off x="266700" y="1080165"/>
            <a:ext cx="2587568" cy="584775"/>
          </a:xfrm>
          <a:prstGeom prst="rect">
            <a:avLst/>
          </a:prstGeom>
          <a:noFill/>
        </p:spPr>
        <p:txBody>
          <a:bodyPr wrap="none" rtlCol="0">
            <a:spAutoFit/>
          </a:bodyPr>
          <a:lstStyle/>
          <a:p>
            <a:r>
              <a:rPr kumimoji="1" lang="en-US" altLang="ja-JP" b="1" dirty="0"/>
              <a:t>SAY</a:t>
            </a:r>
          </a:p>
          <a:p>
            <a:r>
              <a:rPr kumimoji="1" lang="en-US" altLang="ja-JP" sz="1400" dirty="0"/>
              <a:t>(</a:t>
            </a:r>
            <a:r>
              <a:rPr kumimoji="1" lang="ja-JP" altLang="en-US" sz="1400"/>
              <a:t>何が問題だと言っている？）</a:t>
            </a:r>
          </a:p>
        </p:txBody>
      </p:sp>
      <p:sp>
        <p:nvSpPr>
          <p:cNvPr id="42" name="テキスト ボックス 41">
            <a:extLst>
              <a:ext uri="{FF2B5EF4-FFF2-40B4-BE49-F238E27FC236}">
                <a16:creationId xmlns:a16="http://schemas.microsoft.com/office/drawing/2014/main" id="{781E5EA6-649E-CD42-AC0F-3637C3E7CF6E}"/>
              </a:ext>
            </a:extLst>
          </p:cNvPr>
          <p:cNvSpPr txBox="1"/>
          <p:nvPr/>
        </p:nvSpPr>
        <p:spPr>
          <a:xfrm>
            <a:off x="315141" y="3910260"/>
            <a:ext cx="3126177" cy="584775"/>
          </a:xfrm>
          <a:prstGeom prst="rect">
            <a:avLst/>
          </a:prstGeom>
          <a:noFill/>
        </p:spPr>
        <p:txBody>
          <a:bodyPr wrap="none" rtlCol="0">
            <a:spAutoFit/>
          </a:bodyPr>
          <a:lstStyle/>
          <a:p>
            <a:r>
              <a:rPr kumimoji="1" lang="en-US" altLang="ja-JP" b="1" dirty="0"/>
              <a:t>DO</a:t>
            </a:r>
          </a:p>
          <a:p>
            <a:r>
              <a:rPr kumimoji="1" lang="en-US" altLang="ja-JP" sz="1400" dirty="0"/>
              <a:t>(</a:t>
            </a:r>
            <a:r>
              <a:rPr kumimoji="1" lang="ja-JP" altLang="en-US" sz="1400"/>
              <a:t>その問題に今どう対処している？）</a:t>
            </a:r>
            <a:endParaRPr kumimoji="1" lang="ja-JP" altLang="en-US" sz="1200"/>
          </a:p>
        </p:txBody>
      </p:sp>
      <p:sp>
        <p:nvSpPr>
          <p:cNvPr id="43" name="テキスト ボックス 42">
            <a:extLst>
              <a:ext uri="{FF2B5EF4-FFF2-40B4-BE49-F238E27FC236}">
                <a16:creationId xmlns:a16="http://schemas.microsoft.com/office/drawing/2014/main" id="{AD45124E-9445-D945-B5DA-08726F70C220}"/>
              </a:ext>
            </a:extLst>
          </p:cNvPr>
          <p:cNvSpPr txBox="1"/>
          <p:nvPr/>
        </p:nvSpPr>
        <p:spPr>
          <a:xfrm>
            <a:off x="4734721" y="3974809"/>
            <a:ext cx="3416320" cy="584775"/>
          </a:xfrm>
          <a:prstGeom prst="rect">
            <a:avLst/>
          </a:prstGeom>
          <a:noFill/>
        </p:spPr>
        <p:txBody>
          <a:bodyPr wrap="square" rtlCol="0">
            <a:spAutoFit/>
          </a:bodyPr>
          <a:lstStyle/>
          <a:p>
            <a:pPr algn="r"/>
            <a:r>
              <a:rPr kumimoji="1" lang="en-US" altLang="ja-JP" b="1" dirty="0"/>
              <a:t>FEEL</a:t>
            </a:r>
          </a:p>
          <a:p>
            <a:pPr algn="r"/>
            <a:r>
              <a:rPr lang="ja-JP" altLang="en-US" sz="1400"/>
              <a:t>（問題発生時、どういう感情を持つ？）</a:t>
            </a:r>
            <a:endParaRPr kumimoji="1" lang="ja-JP" altLang="en-US" sz="1400"/>
          </a:p>
        </p:txBody>
      </p:sp>
      <p:sp>
        <p:nvSpPr>
          <p:cNvPr id="44" name="テキスト ボックス 43">
            <a:extLst>
              <a:ext uri="{FF2B5EF4-FFF2-40B4-BE49-F238E27FC236}">
                <a16:creationId xmlns:a16="http://schemas.microsoft.com/office/drawing/2014/main" id="{9B396A36-E309-B347-B4C5-6A747394A7D3}"/>
              </a:ext>
            </a:extLst>
          </p:cNvPr>
          <p:cNvSpPr txBox="1"/>
          <p:nvPr/>
        </p:nvSpPr>
        <p:spPr>
          <a:xfrm>
            <a:off x="4976423" y="1093896"/>
            <a:ext cx="3126177" cy="553998"/>
          </a:xfrm>
          <a:prstGeom prst="rect">
            <a:avLst/>
          </a:prstGeom>
          <a:noFill/>
        </p:spPr>
        <p:txBody>
          <a:bodyPr wrap="none" rtlCol="0">
            <a:spAutoFit/>
          </a:bodyPr>
          <a:lstStyle/>
          <a:p>
            <a:pPr algn="r"/>
            <a:r>
              <a:rPr kumimoji="1" lang="en-US" altLang="ja-JP" sz="1600" b="1" dirty="0"/>
              <a:t>THINK</a:t>
            </a:r>
          </a:p>
          <a:p>
            <a:pPr algn="r"/>
            <a:r>
              <a:rPr lang="en-US" altLang="ja-JP" sz="1400" dirty="0"/>
              <a:t>(</a:t>
            </a:r>
            <a:r>
              <a:rPr lang="ja-JP" altLang="en-US" sz="1400"/>
              <a:t>ユーザにとって大事なことは何？）</a:t>
            </a:r>
            <a:endParaRPr kumimoji="1" lang="ja-JP" altLang="en-US" sz="1400" b="1"/>
          </a:p>
        </p:txBody>
      </p:sp>
      <p:sp>
        <p:nvSpPr>
          <p:cNvPr id="45" name="テキスト ボックス 44">
            <a:extLst>
              <a:ext uri="{FF2B5EF4-FFF2-40B4-BE49-F238E27FC236}">
                <a16:creationId xmlns:a16="http://schemas.microsoft.com/office/drawing/2014/main" id="{A2B2B48B-91F5-DA44-972A-2859D7FF0BE4}"/>
              </a:ext>
            </a:extLst>
          </p:cNvPr>
          <p:cNvSpPr txBox="1"/>
          <p:nvPr/>
        </p:nvSpPr>
        <p:spPr>
          <a:xfrm>
            <a:off x="2788179" y="3767464"/>
            <a:ext cx="2791150" cy="415498"/>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gn="ctr"/>
            <a:r>
              <a:rPr kumimoji="1" lang="ja-JP" altLang="en-US" sz="1050">
                <a:solidFill>
                  <a:schemeClr val="tx1"/>
                </a:solidFill>
              </a:rPr>
              <a:t>ユーザー：</a:t>
            </a:r>
            <a:endParaRPr kumimoji="1" lang="en-US" altLang="ja-JP" sz="1050" dirty="0">
              <a:solidFill>
                <a:schemeClr val="tx1"/>
              </a:solidFill>
            </a:endParaRPr>
          </a:p>
          <a:p>
            <a:pPr algn="ctr"/>
            <a:r>
              <a:rPr kumimoji="1" lang="ja-JP" altLang="en-US" sz="1050">
                <a:solidFill>
                  <a:schemeClr val="tx1"/>
                </a:solidFill>
              </a:rPr>
              <a:t>犬を散歩しないといけないと感じている人</a:t>
            </a:r>
            <a:endParaRPr kumimoji="1" lang="en-US" altLang="ja-JP" sz="1050" dirty="0">
              <a:solidFill>
                <a:schemeClr val="tx1"/>
              </a:solidFill>
            </a:endParaRPr>
          </a:p>
        </p:txBody>
      </p:sp>
      <p:graphicFrame>
        <p:nvGraphicFramePr>
          <p:cNvPr id="46" name="表 45">
            <a:extLst>
              <a:ext uri="{FF2B5EF4-FFF2-40B4-BE49-F238E27FC236}">
                <a16:creationId xmlns:a16="http://schemas.microsoft.com/office/drawing/2014/main" id="{B0AA77FA-3747-434F-BB02-21274A6E63EB}"/>
              </a:ext>
            </a:extLst>
          </p:cNvPr>
          <p:cNvGraphicFramePr>
            <a:graphicFrameLocks noGrp="1"/>
          </p:cNvGraphicFramePr>
          <p:nvPr>
            <p:extLst>
              <p:ext uri="{D42A27DB-BD31-4B8C-83A1-F6EECF244321}">
                <p14:modId xmlns:p14="http://schemas.microsoft.com/office/powerpoint/2010/main" val="101932121"/>
              </p:ext>
            </p:extLst>
          </p:nvPr>
        </p:nvGraphicFramePr>
        <p:xfrm>
          <a:off x="8407101" y="1093895"/>
          <a:ext cx="3635308" cy="5646460"/>
        </p:xfrm>
        <a:graphic>
          <a:graphicData uri="http://schemas.openxmlformats.org/drawingml/2006/table">
            <a:tbl>
              <a:tblPr firstRow="1" bandRow="1">
                <a:tableStyleId>{5940675A-B579-460E-94D1-54222C63F5DA}</a:tableStyleId>
              </a:tblPr>
              <a:tblGrid>
                <a:gridCol w="3635308">
                  <a:extLst>
                    <a:ext uri="{9D8B030D-6E8A-4147-A177-3AD203B41FA5}">
                      <a16:colId xmlns:a16="http://schemas.microsoft.com/office/drawing/2014/main" val="1729391388"/>
                    </a:ext>
                  </a:extLst>
                </a:gridCol>
              </a:tblGrid>
              <a:tr h="2823230">
                <a:tc>
                  <a:txBody>
                    <a:bodyPr/>
                    <a:lstStyle/>
                    <a:p>
                      <a:r>
                        <a:rPr kumimoji="1" lang="ja-JP" altLang="en-US" sz="1800" b="1"/>
                        <a:t>①ユーザをどういう状態にできたら問題は解決したと言える？</a:t>
                      </a:r>
                    </a:p>
                  </a:txBody>
                  <a:tcPr/>
                </a:tc>
                <a:extLst>
                  <a:ext uri="{0D108BD9-81ED-4DB2-BD59-A6C34878D82A}">
                    <a16:rowId xmlns:a16="http://schemas.microsoft.com/office/drawing/2014/main" val="2547054461"/>
                  </a:ext>
                </a:extLst>
              </a:tr>
              <a:tr h="2823230">
                <a:tc>
                  <a:txBody>
                    <a:bodyPr/>
                    <a:lstStyle/>
                    <a:p>
                      <a:r>
                        <a:rPr kumimoji="1" lang="ja-JP" altLang="en-US" b="1" dirty="0"/>
                        <a:t>②そのために乗り越えないといけない壁は</a:t>
                      </a:r>
                      <a:r>
                        <a:rPr kumimoji="1" lang="ja-JP" altLang="en-US" b="1"/>
                        <a:t>何？</a:t>
                      </a:r>
                      <a:endParaRPr kumimoji="1" lang="en-US" altLang="ja-JP" b="1" dirty="0"/>
                    </a:p>
                  </a:txBody>
                  <a:tcPr/>
                </a:tc>
                <a:extLst>
                  <a:ext uri="{0D108BD9-81ED-4DB2-BD59-A6C34878D82A}">
                    <a16:rowId xmlns:a16="http://schemas.microsoft.com/office/drawing/2014/main" val="1990001399"/>
                  </a:ext>
                </a:extLst>
              </a:tr>
            </a:tbl>
          </a:graphicData>
        </a:graphic>
      </p:graphicFrame>
      <p:sp>
        <p:nvSpPr>
          <p:cNvPr id="47" name="正方形/長方形 46">
            <a:extLst>
              <a:ext uri="{FF2B5EF4-FFF2-40B4-BE49-F238E27FC236}">
                <a16:creationId xmlns:a16="http://schemas.microsoft.com/office/drawing/2014/main" id="{D116B3DA-1668-0A4C-8B31-7D6C19E32762}"/>
              </a:ext>
            </a:extLst>
          </p:cNvPr>
          <p:cNvSpPr/>
          <p:nvPr/>
        </p:nvSpPr>
        <p:spPr>
          <a:xfrm>
            <a:off x="266700" y="369332"/>
            <a:ext cx="7835900" cy="3038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ステップ１：共感</a:t>
            </a:r>
          </a:p>
        </p:txBody>
      </p:sp>
      <p:sp>
        <p:nvSpPr>
          <p:cNvPr id="48" name="正方形/長方形 47">
            <a:extLst>
              <a:ext uri="{FF2B5EF4-FFF2-40B4-BE49-F238E27FC236}">
                <a16:creationId xmlns:a16="http://schemas.microsoft.com/office/drawing/2014/main" id="{07E5DF91-5D95-AC4B-92D1-DF7BEEE7F1B1}"/>
              </a:ext>
            </a:extLst>
          </p:cNvPr>
          <p:cNvSpPr/>
          <p:nvPr/>
        </p:nvSpPr>
        <p:spPr>
          <a:xfrm>
            <a:off x="8407100" y="363522"/>
            <a:ext cx="3613449" cy="312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t>ステップ２：問題定義</a:t>
            </a:r>
          </a:p>
        </p:txBody>
      </p:sp>
      <p:sp>
        <p:nvSpPr>
          <p:cNvPr id="49" name="左右矢印 48">
            <a:extLst>
              <a:ext uri="{FF2B5EF4-FFF2-40B4-BE49-F238E27FC236}">
                <a16:creationId xmlns:a16="http://schemas.microsoft.com/office/drawing/2014/main" id="{A04887C6-0EEB-9844-AA5C-34C3B9BFE288}"/>
              </a:ext>
            </a:extLst>
          </p:cNvPr>
          <p:cNvSpPr/>
          <p:nvPr/>
        </p:nvSpPr>
        <p:spPr>
          <a:xfrm>
            <a:off x="271012" y="643448"/>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600"/>
              <a:t>①観察し、見たそのままを書く</a:t>
            </a:r>
          </a:p>
        </p:txBody>
      </p:sp>
      <p:sp>
        <p:nvSpPr>
          <p:cNvPr id="50" name="左右矢印 49">
            <a:extLst>
              <a:ext uri="{FF2B5EF4-FFF2-40B4-BE49-F238E27FC236}">
                <a16:creationId xmlns:a16="http://schemas.microsoft.com/office/drawing/2014/main" id="{A9245946-535E-1243-9DD2-2CAE60F5FFC7}"/>
              </a:ext>
            </a:extLst>
          </p:cNvPr>
          <p:cNvSpPr/>
          <p:nvPr/>
        </p:nvSpPr>
        <p:spPr>
          <a:xfrm>
            <a:off x="4188962" y="643448"/>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ja-JP" altLang="en-US" sz="1600"/>
              <a:t>②</a:t>
            </a:r>
            <a:r>
              <a:rPr kumimoji="1" lang="ja-JP" altLang="en-US" sz="1600"/>
              <a:t>思考・気持ちを推察して書く</a:t>
            </a:r>
          </a:p>
        </p:txBody>
      </p:sp>
      <p:sp>
        <p:nvSpPr>
          <p:cNvPr id="51" name="左右矢印 50">
            <a:extLst>
              <a:ext uri="{FF2B5EF4-FFF2-40B4-BE49-F238E27FC236}">
                <a16:creationId xmlns:a16="http://schemas.microsoft.com/office/drawing/2014/main" id="{B5399007-1E11-004A-9C7E-E2DE159E392A}"/>
              </a:ext>
            </a:extLst>
          </p:cNvPr>
          <p:cNvSpPr/>
          <p:nvPr/>
        </p:nvSpPr>
        <p:spPr>
          <a:xfrm>
            <a:off x="8262320" y="641665"/>
            <a:ext cx="3917950" cy="473242"/>
          </a:xfrm>
          <a:prstGeom prst="lef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sz="1600"/>
              <a:t>③根本原因を考える</a:t>
            </a:r>
          </a:p>
        </p:txBody>
      </p:sp>
      <p:sp>
        <p:nvSpPr>
          <p:cNvPr id="52" name="テキスト ボックス 51">
            <a:extLst>
              <a:ext uri="{FF2B5EF4-FFF2-40B4-BE49-F238E27FC236}">
                <a16:creationId xmlns:a16="http://schemas.microsoft.com/office/drawing/2014/main" id="{CD5DF525-DB4B-084D-B882-A3C8CFC9BA59}"/>
              </a:ext>
            </a:extLst>
          </p:cNvPr>
          <p:cNvSpPr txBox="1"/>
          <p:nvPr/>
        </p:nvSpPr>
        <p:spPr>
          <a:xfrm>
            <a:off x="6949315" y="7593"/>
            <a:ext cx="5721104" cy="369332"/>
          </a:xfrm>
          <a:prstGeom prst="rect">
            <a:avLst/>
          </a:prstGeom>
          <a:noFill/>
        </p:spPr>
        <p:txBody>
          <a:bodyPr wrap="square" rtlCol="0">
            <a:spAutoFit/>
          </a:bodyPr>
          <a:lstStyle/>
          <a:p>
            <a:r>
              <a:rPr kumimoji="1" lang="ja-JP" altLang="en-US"/>
              <a:t>クラス：</a:t>
            </a:r>
            <a:r>
              <a:rPr kumimoji="1" lang="en-US" altLang="ja-JP" dirty="0"/>
              <a:t>IW13A004    </a:t>
            </a:r>
            <a:r>
              <a:rPr lang="ja-JP" altLang="en-US"/>
              <a:t>（</a:t>
            </a:r>
            <a:r>
              <a:rPr kumimoji="1" lang="en-US" altLang="ja-JP" dirty="0"/>
              <a:t>13</a:t>
            </a:r>
            <a:r>
              <a:rPr kumimoji="1" lang="ja-JP" altLang="en-US"/>
              <a:t>）</a:t>
            </a:r>
            <a:r>
              <a:rPr kumimoji="1" lang="en-US" altLang="ja-JP" dirty="0"/>
              <a:t>   </a:t>
            </a:r>
            <a:r>
              <a:rPr kumimoji="1" lang="ja-JP" altLang="en-US"/>
              <a:t>氏名：宮下裕希　</a:t>
            </a:r>
            <a:endParaRPr kumimoji="1" lang="ja-JP" altLang="en-US" dirty="0"/>
          </a:p>
        </p:txBody>
      </p:sp>
      <p:sp>
        <p:nvSpPr>
          <p:cNvPr id="53" name="テキスト ボックス 52">
            <a:extLst>
              <a:ext uri="{FF2B5EF4-FFF2-40B4-BE49-F238E27FC236}">
                <a16:creationId xmlns:a16="http://schemas.microsoft.com/office/drawing/2014/main" id="{0F7830C9-7EBE-AD46-B09D-D6096B991263}"/>
              </a:ext>
            </a:extLst>
          </p:cNvPr>
          <p:cNvSpPr txBox="1"/>
          <p:nvPr/>
        </p:nvSpPr>
        <p:spPr>
          <a:xfrm>
            <a:off x="457301" y="1863639"/>
            <a:ext cx="3329808" cy="738664"/>
          </a:xfrm>
          <a:prstGeom prst="rect">
            <a:avLst/>
          </a:prstGeom>
          <a:noFill/>
        </p:spPr>
        <p:txBody>
          <a:bodyPr wrap="square" rtlCol="0">
            <a:spAutoFit/>
          </a:bodyPr>
          <a:lstStyle/>
          <a:p>
            <a:r>
              <a:rPr lang="ja-JP" altLang="en-US" sz="1050"/>
              <a:t>①犬を飼って１</a:t>
            </a:r>
            <a:r>
              <a:rPr lang="en-US" altLang="ja-JP" sz="1050" dirty="0"/>
              <a:t>〜</a:t>
            </a:r>
            <a:r>
              <a:rPr lang="ja-JP" altLang="en-US" sz="1050"/>
              <a:t>２ヶ月経つと散歩に行くのがめんどくさくなり、行かなくなる。</a:t>
            </a:r>
            <a:endParaRPr lang="en-US" altLang="ja-JP" sz="1050" dirty="0"/>
          </a:p>
          <a:p>
            <a:r>
              <a:rPr lang="ja-JP" altLang="en-US" sz="1050"/>
              <a:t>だから、犬が外に行けなくなり、太陽光が浴びれずに病気になる犬が少なからずいる</a:t>
            </a:r>
          </a:p>
        </p:txBody>
      </p:sp>
      <p:sp>
        <p:nvSpPr>
          <p:cNvPr id="56" name="テキスト ボックス 55">
            <a:extLst>
              <a:ext uri="{FF2B5EF4-FFF2-40B4-BE49-F238E27FC236}">
                <a16:creationId xmlns:a16="http://schemas.microsoft.com/office/drawing/2014/main" id="{63E805DE-295A-224B-9C37-745ED8E33ACA}"/>
              </a:ext>
            </a:extLst>
          </p:cNvPr>
          <p:cNvSpPr txBox="1"/>
          <p:nvPr/>
        </p:nvSpPr>
        <p:spPr>
          <a:xfrm>
            <a:off x="459872" y="4677517"/>
            <a:ext cx="3147015" cy="253916"/>
          </a:xfrm>
          <a:prstGeom prst="rect">
            <a:avLst/>
          </a:prstGeom>
          <a:noFill/>
        </p:spPr>
        <p:txBody>
          <a:bodyPr wrap="none" rtlCol="0">
            <a:spAutoFit/>
          </a:bodyPr>
          <a:lstStyle/>
          <a:p>
            <a:r>
              <a:rPr lang="ja-JP" altLang="en-US" sz="1050"/>
              <a:t>①今は対処ができず、散歩をしていない家がある</a:t>
            </a:r>
          </a:p>
        </p:txBody>
      </p:sp>
      <p:sp>
        <p:nvSpPr>
          <p:cNvPr id="59" name="テキスト ボックス 58">
            <a:extLst>
              <a:ext uri="{FF2B5EF4-FFF2-40B4-BE49-F238E27FC236}">
                <a16:creationId xmlns:a16="http://schemas.microsoft.com/office/drawing/2014/main" id="{06211B9F-A211-AA4A-BD53-F2CBFE0C1F81}"/>
              </a:ext>
            </a:extLst>
          </p:cNvPr>
          <p:cNvSpPr txBox="1"/>
          <p:nvPr/>
        </p:nvSpPr>
        <p:spPr>
          <a:xfrm>
            <a:off x="4738979" y="1867025"/>
            <a:ext cx="723275" cy="253916"/>
          </a:xfrm>
          <a:prstGeom prst="rect">
            <a:avLst/>
          </a:prstGeom>
          <a:noFill/>
        </p:spPr>
        <p:txBody>
          <a:bodyPr wrap="none" rtlCol="0">
            <a:spAutoFit/>
          </a:bodyPr>
          <a:lstStyle/>
          <a:p>
            <a:r>
              <a:rPr kumimoji="1" lang="ja-JP" altLang="en-US" sz="1050"/>
              <a:t>・手軽さ</a:t>
            </a:r>
            <a:endParaRPr kumimoji="1" lang="en-US" altLang="ja-JP" sz="1050" dirty="0"/>
          </a:p>
        </p:txBody>
      </p:sp>
      <p:sp>
        <p:nvSpPr>
          <p:cNvPr id="61" name="テキスト ボックス 60">
            <a:extLst>
              <a:ext uri="{FF2B5EF4-FFF2-40B4-BE49-F238E27FC236}">
                <a16:creationId xmlns:a16="http://schemas.microsoft.com/office/drawing/2014/main" id="{CA877C01-2231-BE42-85B1-D3AFD208D0EF}"/>
              </a:ext>
            </a:extLst>
          </p:cNvPr>
          <p:cNvSpPr txBox="1"/>
          <p:nvPr/>
        </p:nvSpPr>
        <p:spPr>
          <a:xfrm>
            <a:off x="4365681" y="4769853"/>
            <a:ext cx="3012363" cy="415498"/>
          </a:xfrm>
          <a:prstGeom prst="rect">
            <a:avLst/>
          </a:prstGeom>
          <a:noFill/>
        </p:spPr>
        <p:txBody>
          <a:bodyPr wrap="none" rtlCol="0">
            <a:spAutoFit/>
          </a:bodyPr>
          <a:lstStyle/>
          <a:p>
            <a:r>
              <a:rPr lang="ja-JP" altLang="en-US" sz="1050"/>
              <a:t>①犬を散歩したいけれどめんどくさくなるけど</a:t>
            </a:r>
            <a:endParaRPr lang="en-US" altLang="ja-JP" sz="1050" dirty="0"/>
          </a:p>
          <a:p>
            <a:r>
              <a:rPr lang="ja-JP" altLang="en-US" sz="1050"/>
              <a:t>犬に申し訳ないという感情</a:t>
            </a:r>
          </a:p>
        </p:txBody>
      </p:sp>
      <p:sp>
        <p:nvSpPr>
          <p:cNvPr id="62" name="テキスト ボックス 61">
            <a:extLst>
              <a:ext uri="{FF2B5EF4-FFF2-40B4-BE49-F238E27FC236}">
                <a16:creationId xmlns:a16="http://schemas.microsoft.com/office/drawing/2014/main" id="{BD052C81-BD07-7040-A0CA-013E7FD631B0}"/>
              </a:ext>
            </a:extLst>
          </p:cNvPr>
          <p:cNvSpPr txBox="1"/>
          <p:nvPr/>
        </p:nvSpPr>
        <p:spPr>
          <a:xfrm>
            <a:off x="8513135" y="1786234"/>
            <a:ext cx="2877711" cy="253916"/>
          </a:xfrm>
          <a:prstGeom prst="rect">
            <a:avLst/>
          </a:prstGeom>
          <a:noFill/>
        </p:spPr>
        <p:txBody>
          <a:bodyPr wrap="none" rtlCol="0">
            <a:spAutoFit/>
          </a:bodyPr>
          <a:lstStyle/>
          <a:p>
            <a:r>
              <a:rPr lang="ja-JP" altLang="en-US" sz="1050"/>
              <a:t>・自分から散歩に行きたいと思える環境作り</a:t>
            </a:r>
          </a:p>
        </p:txBody>
      </p:sp>
      <p:sp>
        <p:nvSpPr>
          <p:cNvPr id="66" name="テキスト ボックス 65">
            <a:extLst>
              <a:ext uri="{FF2B5EF4-FFF2-40B4-BE49-F238E27FC236}">
                <a16:creationId xmlns:a16="http://schemas.microsoft.com/office/drawing/2014/main" id="{3A2003DB-D966-4546-9719-19FD54D54492}"/>
              </a:ext>
            </a:extLst>
          </p:cNvPr>
          <p:cNvSpPr txBox="1"/>
          <p:nvPr/>
        </p:nvSpPr>
        <p:spPr>
          <a:xfrm>
            <a:off x="4734721" y="2122988"/>
            <a:ext cx="2608406" cy="253916"/>
          </a:xfrm>
          <a:prstGeom prst="rect">
            <a:avLst/>
          </a:prstGeom>
          <a:noFill/>
        </p:spPr>
        <p:txBody>
          <a:bodyPr wrap="none" rtlCol="0">
            <a:spAutoFit/>
          </a:bodyPr>
          <a:lstStyle/>
          <a:p>
            <a:r>
              <a:rPr kumimoji="1" lang="ja-JP" altLang="en-US" sz="1050"/>
              <a:t>・新しい散歩仲間との出会い</a:t>
            </a:r>
            <a:r>
              <a:rPr lang="ja-JP" altLang="en-US" sz="1050"/>
              <a:t>との出会い</a:t>
            </a:r>
            <a:endParaRPr kumimoji="1" lang="en-US" altLang="ja-JP" sz="1050" dirty="0"/>
          </a:p>
        </p:txBody>
      </p:sp>
      <p:sp>
        <p:nvSpPr>
          <p:cNvPr id="68" name="テキスト ボックス 67">
            <a:extLst>
              <a:ext uri="{FF2B5EF4-FFF2-40B4-BE49-F238E27FC236}">
                <a16:creationId xmlns:a16="http://schemas.microsoft.com/office/drawing/2014/main" id="{EA4397AC-84CC-754F-A9D6-7C360661A6A1}"/>
              </a:ext>
            </a:extLst>
          </p:cNvPr>
          <p:cNvSpPr txBox="1"/>
          <p:nvPr/>
        </p:nvSpPr>
        <p:spPr>
          <a:xfrm>
            <a:off x="4734720" y="2416433"/>
            <a:ext cx="1850186" cy="253916"/>
          </a:xfrm>
          <a:prstGeom prst="rect">
            <a:avLst/>
          </a:prstGeom>
          <a:noFill/>
        </p:spPr>
        <p:txBody>
          <a:bodyPr wrap="none" rtlCol="0">
            <a:spAutoFit/>
          </a:bodyPr>
          <a:lstStyle/>
          <a:p>
            <a:r>
              <a:rPr kumimoji="1" lang="ja-JP" altLang="en-US" sz="1050"/>
              <a:t>・</a:t>
            </a:r>
            <a:r>
              <a:rPr lang="ja-JP" altLang="en-US" sz="1050"/>
              <a:t>家を知られたくない心理</a:t>
            </a:r>
            <a:endParaRPr kumimoji="1" lang="ja-JP" altLang="en-US" sz="1050"/>
          </a:p>
        </p:txBody>
      </p:sp>
      <p:sp>
        <p:nvSpPr>
          <p:cNvPr id="69" name="テキスト ボックス 68">
            <a:extLst>
              <a:ext uri="{FF2B5EF4-FFF2-40B4-BE49-F238E27FC236}">
                <a16:creationId xmlns:a16="http://schemas.microsoft.com/office/drawing/2014/main" id="{A49F75F8-F8DA-1343-9C1C-1F5262560CC1}"/>
              </a:ext>
            </a:extLst>
          </p:cNvPr>
          <p:cNvSpPr txBox="1"/>
          <p:nvPr/>
        </p:nvSpPr>
        <p:spPr>
          <a:xfrm>
            <a:off x="4365681" y="5296871"/>
            <a:ext cx="2608406" cy="415498"/>
          </a:xfrm>
          <a:prstGeom prst="rect">
            <a:avLst/>
          </a:prstGeom>
          <a:noFill/>
        </p:spPr>
        <p:txBody>
          <a:bodyPr wrap="none" rtlCol="0">
            <a:spAutoFit/>
          </a:bodyPr>
          <a:lstStyle/>
          <a:p>
            <a:r>
              <a:rPr lang="en-US" altLang="ja-JP" sz="1050" dirty="0"/>
              <a:t>②</a:t>
            </a:r>
            <a:r>
              <a:rPr lang="ja-JP" altLang="en-US" sz="1050"/>
              <a:t>行かないといけないけどめんどくさい</a:t>
            </a:r>
            <a:endParaRPr lang="en-US" altLang="ja-JP" sz="1050" dirty="0"/>
          </a:p>
          <a:p>
            <a:r>
              <a:rPr kumimoji="1" lang="ja-JP" altLang="en-US" sz="1050"/>
              <a:t>という自分の怠さ、苛立ち</a:t>
            </a:r>
          </a:p>
        </p:txBody>
      </p:sp>
      <p:sp>
        <p:nvSpPr>
          <p:cNvPr id="71" name="テキスト ボックス 70">
            <a:extLst>
              <a:ext uri="{FF2B5EF4-FFF2-40B4-BE49-F238E27FC236}">
                <a16:creationId xmlns:a16="http://schemas.microsoft.com/office/drawing/2014/main" id="{E4587DC8-4255-644A-9AB0-69116AAE6BF3}"/>
              </a:ext>
            </a:extLst>
          </p:cNvPr>
          <p:cNvSpPr txBox="1"/>
          <p:nvPr/>
        </p:nvSpPr>
        <p:spPr>
          <a:xfrm>
            <a:off x="8639212" y="4559584"/>
            <a:ext cx="3012363" cy="415498"/>
          </a:xfrm>
          <a:prstGeom prst="rect">
            <a:avLst/>
          </a:prstGeom>
          <a:noFill/>
        </p:spPr>
        <p:txBody>
          <a:bodyPr wrap="none" rtlCol="0">
            <a:spAutoFit/>
          </a:bodyPr>
          <a:lstStyle/>
          <a:p>
            <a:r>
              <a:rPr kumimoji="1" lang="ja-JP" altLang="en-US" sz="1050"/>
              <a:t>・散歩仲間を探すのに自分の家を公表するのは</a:t>
            </a:r>
            <a:endParaRPr kumimoji="1" lang="en-US" altLang="ja-JP" sz="1050" dirty="0"/>
          </a:p>
          <a:p>
            <a:r>
              <a:rPr lang="ja-JP" altLang="en-US" sz="1050"/>
              <a:t>セキュリティ的に不安視される</a:t>
            </a:r>
            <a:endParaRPr kumimoji="1" lang="ja-JP" altLang="en-US" sz="1050"/>
          </a:p>
        </p:txBody>
      </p:sp>
      <p:sp>
        <p:nvSpPr>
          <p:cNvPr id="72" name="テキスト ボックス 71">
            <a:extLst>
              <a:ext uri="{FF2B5EF4-FFF2-40B4-BE49-F238E27FC236}">
                <a16:creationId xmlns:a16="http://schemas.microsoft.com/office/drawing/2014/main" id="{CA676FCD-AB8C-D349-8735-338ADEDDF31E}"/>
              </a:ext>
            </a:extLst>
          </p:cNvPr>
          <p:cNvSpPr txBox="1"/>
          <p:nvPr/>
        </p:nvSpPr>
        <p:spPr>
          <a:xfrm>
            <a:off x="8639212" y="4966057"/>
            <a:ext cx="2339102" cy="253916"/>
          </a:xfrm>
          <a:prstGeom prst="rect">
            <a:avLst/>
          </a:prstGeom>
          <a:noFill/>
        </p:spPr>
        <p:txBody>
          <a:bodyPr wrap="none" rtlCol="0">
            <a:spAutoFit/>
          </a:bodyPr>
          <a:lstStyle/>
          <a:p>
            <a:r>
              <a:rPr lang="ja-JP" altLang="en-US" sz="1050"/>
              <a:t>・売り上げをどのようにして出すか</a:t>
            </a:r>
            <a:endParaRPr kumimoji="1" lang="ja-JP" altLang="en-US" sz="1050"/>
          </a:p>
        </p:txBody>
      </p:sp>
      <p:sp>
        <p:nvSpPr>
          <p:cNvPr id="73" name="テキスト ボックス 72">
            <a:extLst>
              <a:ext uri="{FF2B5EF4-FFF2-40B4-BE49-F238E27FC236}">
                <a16:creationId xmlns:a16="http://schemas.microsoft.com/office/drawing/2014/main" id="{29EC8434-77FC-2E46-BC60-E225CEB56CDC}"/>
              </a:ext>
            </a:extLst>
          </p:cNvPr>
          <p:cNvSpPr txBox="1"/>
          <p:nvPr/>
        </p:nvSpPr>
        <p:spPr>
          <a:xfrm>
            <a:off x="8647788" y="5232145"/>
            <a:ext cx="1800493" cy="253916"/>
          </a:xfrm>
          <a:prstGeom prst="rect">
            <a:avLst/>
          </a:prstGeom>
          <a:noFill/>
        </p:spPr>
        <p:txBody>
          <a:bodyPr wrap="none" rtlCol="0">
            <a:spAutoFit/>
          </a:bodyPr>
          <a:lstStyle/>
          <a:p>
            <a:r>
              <a:rPr kumimoji="1" lang="ja-JP" altLang="en-US" sz="1050"/>
              <a:t>・散歩仲間とどう出会うか</a:t>
            </a:r>
          </a:p>
        </p:txBody>
      </p:sp>
    </p:spTree>
    <p:extLst>
      <p:ext uri="{BB962C8B-B14F-4D97-AF65-F5344CB8AC3E}">
        <p14:creationId xmlns:p14="http://schemas.microsoft.com/office/powerpoint/2010/main" val="43168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815820586"/>
              </p:ext>
            </p:extLst>
          </p:nvPr>
        </p:nvGraphicFramePr>
        <p:xfrm>
          <a:off x="347472" y="627918"/>
          <a:ext cx="11237748" cy="5739808"/>
        </p:xfrm>
        <a:graphic>
          <a:graphicData uri="http://schemas.openxmlformats.org/drawingml/2006/table">
            <a:tbl>
              <a:tblPr firstRow="1" bandRow="1">
                <a:tableStyleId>{7E9639D4-E3E2-4D34-9284-5A2195B3D0D7}</a:tableStyleId>
              </a:tblPr>
              <a:tblGrid>
                <a:gridCol w="2100580">
                  <a:extLst>
                    <a:ext uri="{9D8B030D-6E8A-4147-A177-3AD203B41FA5}">
                      <a16:colId xmlns:a16="http://schemas.microsoft.com/office/drawing/2014/main" val="20000"/>
                    </a:ext>
                  </a:extLst>
                </a:gridCol>
                <a:gridCol w="8928888">
                  <a:extLst>
                    <a:ext uri="{9D8B030D-6E8A-4147-A177-3AD203B41FA5}">
                      <a16:colId xmlns:a16="http://schemas.microsoft.com/office/drawing/2014/main" val="20001"/>
                    </a:ext>
                  </a:extLst>
                </a:gridCol>
                <a:gridCol w="208280">
                  <a:extLst>
                    <a:ext uri="{9D8B030D-6E8A-4147-A177-3AD203B41FA5}">
                      <a16:colId xmlns:a16="http://schemas.microsoft.com/office/drawing/2014/main" val="2293117756"/>
                    </a:ext>
                  </a:extLst>
                </a:gridCol>
              </a:tblGrid>
              <a:tr h="14401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kern="1200">
                          <a:solidFill>
                            <a:schemeClr val="bg1"/>
                          </a:solidFill>
                          <a:latin typeface="+mj-ea"/>
                          <a:ea typeface="+mn-ea"/>
                          <a:cs typeface="+mn-cs"/>
                        </a:rPr>
                        <a:t>システム・サービス名：　</a:t>
                      </a:r>
                      <a:r>
                        <a:rPr lang="en" altLang="ja-JP" sz="1800" u="none" strike="noStrike" dirty="0">
                          <a:effectLst/>
                        </a:rPr>
                        <a:t>dog walk treatment</a:t>
                      </a:r>
                    </a:p>
                  </a:txBody>
                  <a:tcPr/>
                </a:tc>
                <a:tc hMerge="1">
                  <a:txBody>
                    <a:bodyPr/>
                    <a:lstStyle/>
                    <a:p>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10000"/>
                  </a:ext>
                </a:extLst>
              </a:tr>
              <a:tr h="3179488">
                <a:tc gridSpan="3">
                  <a:txBody>
                    <a:bodyPr/>
                    <a:lstStyle/>
                    <a:p>
                      <a:r>
                        <a:rPr kumimoji="1" lang="ja-JP" altLang="en-US" sz="1200" kern="1200">
                          <a:solidFill>
                            <a:schemeClr val="tx1"/>
                          </a:solidFill>
                          <a:latin typeface="+mj-ea"/>
                          <a:ea typeface="+mn-ea"/>
                          <a:cs typeface="+mn-cs"/>
                        </a:rPr>
                        <a:t>サービス</a:t>
                      </a:r>
                      <a:r>
                        <a:rPr kumimoji="1" lang="en-US" altLang="ja-JP" sz="1200" kern="1200" dirty="0">
                          <a:solidFill>
                            <a:schemeClr val="tx1"/>
                          </a:solidFill>
                          <a:latin typeface="+mj-ea"/>
                          <a:ea typeface="+mn-ea"/>
                          <a:cs typeface="+mn-cs"/>
                        </a:rPr>
                        <a:t>/</a:t>
                      </a:r>
                      <a:r>
                        <a:rPr kumimoji="1" lang="ja-JP" altLang="en-US" sz="1200" kern="1200">
                          <a:solidFill>
                            <a:schemeClr val="tx1"/>
                          </a:solidFill>
                          <a:latin typeface="+mj-ea"/>
                          <a:ea typeface="+mn-ea"/>
                          <a:cs typeface="+mn-cs"/>
                        </a:rPr>
                        <a:t>商品およびシステムの概要</a:t>
                      </a:r>
                      <a:endParaRPr kumimoji="1" lang="en-US" altLang="ja-JP" sz="1200" kern="1200" dirty="0">
                        <a:solidFill>
                          <a:schemeClr val="tx1"/>
                        </a:solidFill>
                        <a:latin typeface="+mj-ea"/>
                        <a:ea typeface="+mn-ea"/>
                        <a:cs typeface="+mn-cs"/>
                      </a:endParaRPr>
                    </a:p>
                  </a:txBody>
                  <a:tcPr/>
                </a:tc>
                <a:tc hMerge="1">
                  <a:txBody>
                    <a:bodyPr/>
                    <a:lstStyle/>
                    <a:p>
                      <a:endParaRPr kumimoji="1" lang="ja-JP" altLang="en-US"/>
                    </a:p>
                  </a:txBody>
                  <a:tcPr/>
                </a:tc>
                <a:tc hMerge="1">
                  <a:txBody>
                    <a:bodyPr/>
                    <a:lstStyle/>
                    <a:p>
                      <a:endParaRPr kumimoji="1" lang="ja-JP" altLang="en-US" sz="1200" b="1" dirty="0">
                        <a:latin typeface="+mj-ea"/>
                        <a:ea typeface="+mj-ea"/>
                      </a:endParaRPr>
                    </a:p>
                  </a:txBody>
                  <a:tcPr/>
                </a:tc>
                <a:extLst>
                  <a:ext uri="{0D108BD9-81ED-4DB2-BD59-A6C34878D82A}">
                    <a16:rowId xmlns:a16="http://schemas.microsoft.com/office/drawing/2014/main" val="10006"/>
                  </a:ext>
                </a:extLst>
              </a:tr>
              <a:tr h="141378">
                <a:tc>
                  <a:txBody>
                    <a:bodyPr/>
                    <a:lstStyle/>
                    <a:p>
                      <a:r>
                        <a:rPr kumimoji="1" lang="ja-JP" altLang="en-US" sz="1200" b="0">
                          <a:latin typeface="+mj-ea"/>
                          <a:ea typeface="+mj-ea"/>
                        </a:rPr>
                        <a:t>カテゴリー</a:t>
                      </a:r>
                      <a:endParaRPr kumimoji="1" lang="ja-JP" altLang="en-US" sz="1200" b="0" dirty="0">
                        <a:latin typeface="+mj-ea"/>
                        <a:ea typeface="+mj-ea"/>
                      </a:endParaRPr>
                    </a:p>
                  </a:txBody>
                  <a:tcPr>
                    <a:lnR w="6350" cap="flat" cmpd="sng" algn="ctr">
                      <a:solidFill>
                        <a:schemeClr val="tx1"/>
                      </a:solidFill>
                      <a:prstDash val="solid"/>
                      <a:round/>
                      <a:headEnd type="none" w="med" len="med"/>
                      <a:tailEnd type="none" w="med" len="med"/>
                    </a:lnR>
                  </a:tcPr>
                </a:tc>
                <a:tc gridSpan="2">
                  <a:txBody>
                    <a:bodyPr/>
                    <a:lstStyle/>
                    <a:p>
                      <a:r>
                        <a:rPr kumimoji="1" lang="en-US" altLang="ja-JP" sz="1200" dirty="0">
                          <a:latin typeface="+mj-ea"/>
                          <a:ea typeface="+mj-ea"/>
                        </a:rPr>
                        <a:t>C</a:t>
                      </a:r>
                      <a:r>
                        <a:rPr kumimoji="1" lang="ja-JP" altLang="en-US" sz="1200">
                          <a:latin typeface="+mj-ea"/>
                          <a:ea typeface="+mj-ea"/>
                        </a:rPr>
                        <a:t> </a:t>
                      </a:r>
                      <a:r>
                        <a:rPr kumimoji="1" lang="en-US" altLang="ja-JP" sz="1200" dirty="0">
                          <a:latin typeface="+mj-ea"/>
                          <a:ea typeface="+mj-ea"/>
                        </a:rPr>
                        <a:t>to C </a:t>
                      </a:r>
                      <a:r>
                        <a:rPr kumimoji="1" lang="ja-JP" altLang="en-US" sz="1200">
                          <a:latin typeface="+mj-ea"/>
                          <a:ea typeface="+mj-ea"/>
                        </a:rPr>
                        <a:t>求人募集アプリ</a:t>
                      </a:r>
                      <a:endParaRPr kumimoji="1" lang="en-US" altLang="ja-JP"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sz="1200" dirty="0">
                        <a:latin typeface="+mj-ea"/>
                        <a:ea typeface="+mj-ea"/>
                      </a:endParaRPr>
                    </a:p>
                  </a:txBody>
                  <a:tcPr/>
                </a:tc>
                <a:extLst>
                  <a:ext uri="{0D108BD9-81ED-4DB2-BD59-A6C34878D82A}">
                    <a16:rowId xmlns:a16="http://schemas.microsoft.com/office/drawing/2014/main" val="10002"/>
                  </a:ext>
                </a:extLst>
              </a:tr>
              <a:tr h="141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latin typeface="+mj-ea"/>
                          <a:ea typeface="+mn-ea"/>
                          <a:cs typeface="+mn-cs"/>
                        </a:rPr>
                        <a:t>誰が使うのか</a:t>
                      </a:r>
                      <a:endParaRPr kumimoji="1" lang="ja-JP" altLang="en-US" sz="1200" b="1" kern="1200">
                        <a:solidFill>
                          <a:schemeClr val="tx1"/>
                        </a:solidFill>
                        <a:latin typeface="+mj-ea"/>
                        <a:ea typeface="+mn-ea"/>
                        <a:cs typeface="+mn-cs"/>
                      </a:endParaRPr>
                    </a:p>
                  </a:txBody>
                  <a:tcPr>
                    <a:lnR w="6350" cap="flat" cmpd="sng" algn="ctr">
                      <a:solidFill>
                        <a:schemeClr val="tx1"/>
                      </a:solidFill>
                      <a:prstDash val="solid"/>
                      <a:round/>
                      <a:headEnd type="none" w="med" len="med"/>
                      <a:tailEnd type="none" w="med" len="med"/>
                    </a:lnR>
                  </a:tcPr>
                </a:tc>
                <a:tc gridSpan="2">
                  <a:txBody>
                    <a:bodyPr/>
                    <a:lstStyle/>
                    <a:p>
                      <a:r>
                        <a:rPr kumimoji="1" lang="ja-JP" altLang="en-US" sz="1200">
                          <a:latin typeface="+mj-ea"/>
                          <a:ea typeface="+mj-ea"/>
                        </a:rPr>
                        <a:t>犬を飼って１</a:t>
                      </a:r>
                      <a:r>
                        <a:rPr kumimoji="1" lang="en-US" altLang="ja-JP" sz="1200" dirty="0">
                          <a:latin typeface="+mj-ea"/>
                          <a:ea typeface="+mj-ea"/>
                        </a:rPr>
                        <a:t>〜</a:t>
                      </a:r>
                      <a:r>
                        <a:rPr kumimoji="1" lang="ja-JP" altLang="en-US" sz="1200">
                          <a:latin typeface="+mj-ea"/>
                          <a:ea typeface="+mj-ea"/>
                        </a:rPr>
                        <a:t>２ヶ月経った犬の飼い主</a:t>
                      </a:r>
                      <a:endParaRPr kumimoji="1" lang="ja-JP" altLang="en-US"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a:p>
                  </a:txBody>
                  <a:tcPr/>
                </a:tc>
                <a:extLst>
                  <a:ext uri="{0D108BD9-81ED-4DB2-BD59-A6C34878D82A}">
                    <a16:rowId xmlns:a16="http://schemas.microsoft.com/office/drawing/2014/main" val="3975231060"/>
                  </a:ext>
                </a:extLst>
              </a:tr>
              <a:tr h="0">
                <a:tc>
                  <a:txBody>
                    <a:bodyPr/>
                    <a:lstStyle/>
                    <a:p>
                      <a:r>
                        <a:rPr kumimoji="1" lang="ja-JP" altLang="en-US" sz="1200" dirty="0">
                          <a:latin typeface="+mj-ea"/>
                          <a:ea typeface="+mj-ea"/>
                        </a:rPr>
                        <a:t>何の問題</a:t>
                      </a:r>
                      <a:r>
                        <a:rPr kumimoji="1" lang="ja-JP" altLang="en-US" sz="1200">
                          <a:latin typeface="+mj-ea"/>
                          <a:ea typeface="+mj-ea"/>
                        </a:rPr>
                        <a:t>を解決</a:t>
                      </a:r>
                      <a:r>
                        <a:rPr kumimoji="1" lang="en-US" altLang="ja-JP" sz="1200" dirty="0">
                          <a:latin typeface="+mj-ea"/>
                          <a:ea typeface="+mj-ea"/>
                        </a:rPr>
                        <a:t>(</a:t>
                      </a:r>
                      <a:r>
                        <a:rPr kumimoji="1" lang="ja-JP" altLang="en-US" sz="1200">
                          <a:latin typeface="+mj-ea"/>
                          <a:ea typeface="+mj-ea"/>
                        </a:rPr>
                        <a:t>項目の列挙</a:t>
                      </a:r>
                      <a:r>
                        <a:rPr kumimoji="1" lang="en-US" altLang="ja-JP" sz="1200" dirty="0">
                          <a:latin typeface="+mj-ea"/>
                          <a:ea typeface="+mj-ea"/>
                        </a:rPr>
                        <a:t>)</a:t>
                      </a:r>
                      <a:endParaRPr kumimoji="1" lang="ja-JP" altLang="en-US" sz="1200" b="1" dirty="0">
                        <a:latin typeface="+mj-ea"/>
                        <a:ea typeface="+mj-ea"/>
                      </a:endParaRPr>
                    </a:p>
                  </a:txBody>
                  <a:tcPr>
                    <a:lnR w="6350" cap="flat" cmpd="sng" algn="ctr">
                      <a:solidFill>
                        <a:schemeClr val="tx1"/>
                      </a:solidFill>
                      <a:prstDash val="solid"/>
                      <a:round/>
                      <a:headEnd type="none" w="med" len="med"/>
                      <a:tailEnd type="none" w="med" len="med"/>
                    </a:lnR>
                  </a:tcPr>
                </a:tc>
                <a:tc gridSpan="2">
                  <a:txBody>
                    <a:bodyPr/>
                    <a:lstStyle/>
                    <a:p>
                      <a:r>
                        <a:rPr kumimoji="1" lang="ja-JP" altLang="en-US" sz="1200">
                          <a:latin typeface="+mj-ea"/>
                          <a:ea typeface="+mj-ea"/>
                        </a:rPr>
                        <a:t>散歩に行くのがめんどくさくなる。犬の足の健康維持</a:t>
                      </a:r>
                      <a:endParaRPr kumimoji="1" lang="ja-JP" altLang="en-US"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sz="1200" dirty="0">
                        <a:latin typeface="+mj-ea"/>
                        <a:ea typeface="+mj-ea"/>
                      </a:endParaRPr>
                    </a:p>
                  </a:txBody>
                  <a:tcPr/>
                </a:tc>
                <a:extLst>
                  <a:ext uri="{0D108BD9-81ED-4DB2-BD59-A6C34878D82A}">
                    <a16:rowId xmlns:a16="http://schemas.microsoft.com/office/drawing/2014/main" val="10003"/>
                  </a:ext>
                </a:extLst>
              </a:tr>
              <a:tr h="196242">
                <a:tc>
                  <a:txBody>
                    <a:bodyPr/>
                    <a:lstStyle/>
                    <a:p>
                      <a:r>
                        <a:rPr kumimoji="1" lang="ja-JP" altLang="en-US" sz="1200" dirty="0">
                          <a:latin typeface="+mj-ea"/>
                          <a:ea typeface="+mj-ea"/>
                        </a:rPr>
                        <a:t>類似サービスの有無と、</a:t>
                      </a:r>
                      <a:endParaRPr kumimoji="1" lang="en-US" altLang="ja-JP" sz="1200" dirty="0">
                        <a:latin typeface="+mj-ea"/>
                        <a:ea typeface="+mj-ea"/>
                      </a:endParaRPr>
                    </a:p>
                    <a:p>
                      <a:r>
                        <a:rPr kumimoji="1" lang="ja-JP" altLang="en-US" sz="1200" dirty="0">
                          <a:latin typeface="+mj-ea"/>
                          <a:ea typeface="+mj-ea"/>
                        </a:rPr>
                        <a:t>有の場合、違いは</a:t>
                      </a:r>
                      <a:r>
                        <a:rPr kumimoji="1" lang="ja-JP" altLang="en-US" sz="1200">
                          <a:latin typeface="+mj-ea"/>
                          <a:ea typeface="+mj-ea"/>
                        </a:rPr>
                        <a:t>何か</a:t>
                      </a:r>
                      <a:endParaRPr kumimoji="1" lang="ja-JP" altLang="en-US" sz="1200" b="1" dirty="0">
                        <a:latin typeface="+mj-ea"/>
                        <a:ea typeface="+mj-ea"/>
                      </a:endParaRPr>
                    </a:p>
                  </a:txBody>
                  <a:tcPr>
                    <a:lnR w="6350" cap="flat" cmpd="sng" algn="ctr">
                      <a:solidFill>
                        <a:schemeClr val="tx1"/>
                      </a:solidFill>
                      <a:prstDash val="solid"/>
                      <a:round/>
                      <a:headEnd type="none" w="med" len="med"/>
                      <a:tailEnd type="none" w="med" len="med"/>
                    </a:lnR>
                  </a:tcPr>
                </a:tc>
                <a:tc gridSpan="2">
                  <a:txBody>
                    <a:bodyPr/>
                    <a:lstStyle/>
                    <a:p>
                      <a:endParaRPr kumimoji="1" lang="en-US" altLang="ja-JP"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sz="1200" dirty="0">
                        <a:latin typeface="+mj-ea"/>
                        <a:ea typeface="+mj-ea"/>
                      </a:endParaRPr>
                    </a:p>
                  </a:txBody>
                  <a:tcPr/>
                </a:tc>
                <a:extLst>
                  <a:ext uri="{0D108BD9-81ED-4DB2-BD59-A6C34878D82A}">
                    <a16:rowId xmlns:a16="http://schemas.microsoft.com/office/drawing/2014/main" val="10004"/>
                  </a:ext>
                </a:extLst>
              </a:tr>
              <a:tr h="168810">
                <a:tc>
                  <a:txBody>
                    <a:bodyPr/>
                    <a:lstStyle/>
                    <a:p>
                      <a:r>
                        <a:rPr kumimoji="1" lang="ja-JP" altLang="en-US" sz="1200">
                          <a:latin typeface="+mj-ea"/>
                          <a:ea typeface="+mj-ea"/>
                        </a:rPr>
                        <a:t>ビジネスモデル</a:t>
                      </a:r>
                      <a:r>
                        <a:rPr kumimoji="1" lang="ja-JP" altLang="en-US" sz="1200" dirty="0">
                          <a:latin typeface="+mj-ea"/>
                          <a:ea typeface="+mj-ea"/>
                        </a:rPr>
                        <a:t>・課金方法：</a:t>
                      </a:r>
                      <a:endParaRPr kumimoji="1" lang="en-US" altLang="ja-JP" sz="1200" dirty="0">
                        <a:latin typeface="+mj-ea"/>
                        <a:ea typeface="+mj-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j-ea"/>
                          <a:ea typeface="+mn-ea"/>
                          <a:cs typeface="+mn-cs"/>
                        </a:rPr>
                        <a:t>（もしかければ）</a:t>
                      </a:r>
                      <a:endParaRPr kumimoji="1" lang="en-US" altLang="ja-JP" sz="1200" kern="1200" dirty="0">
                        <a:solidFill>
                          <a:schemeClr val="tx1"/>
                        </a:solidFill>
                        <a:latin typeface="+mj-ea"/>
                        <a:ea typeface="+mn-ea"/>
                        <a:cs typeface="+mn-cs"/>
                      </a:endParaRPr>
                    </a:p>
                  </a:txBody>
                  <a:tcPr>
                    <a:lnR w="6350" cap="flat" cmpd="sng" algn="ctr">
                      <a:solidFill>
                        <a:schemeClr val="tx1"/>
                      </a:solidFill>
                      <a:prstDash val="solid"/>
                      <a:round/>
                      <a:headEnd type="none" w="med" len="med"/>
                      <a:tailEnd type="none" w="med" len="med"/>
                    </a:lnR>
                  </a:tcPr>
                </a:tc>
                <a:tc gridSpan="2">
                  <a:txBody>
                    <a:bodyPr/>
                    <a:lstStyle/>
                    <a:p>
                      <a:r>
                        <a:rPr kumimoji="1" lang="ja-JP" altLang="en-US" sz="1200">
                          <a:latin typeface="+mj-ea"/>
                          <a:ea typeface="+mj-ea"/>
                        </a:rPr>
                        <a:t>・　</a:t>
                      </a:r>
                      <a:r>
                        <a:rPr kumimoji="1" lang="en-US" altLang="ja-JP" sz="1200" dirty="0">
                          <a:latin typeface="+mj-ea"/>
                          <a:ea typeface="+mj-ea"/>
                        </a:rPr>
                        <a:t>line</a:t>
                      </a:r>
                      <a:r>
                        <a:rPr kumimoji="1" lang="ja-JP" altLang="en-US" sz="1200">
                          <a:latin typeface="+mj-ea"/>
                          <a:ea typeface="+mj-ea"/>
                        </a:rPr>
                        <a:t>の新機能なため収益は現状の</a:t>
                      </a:r>
                      <a:r>
                        <a:rPr kumimoji="1" lang="en-US" altLang="ja-JP" sz="1200" dirty="0">
                          <a:latin typeface="+mj-ea"/>
                          <a:ea typeface="+mj-ea"/>
                        </a:rPr>
                        <a:t>line</a:t>
                      </a:r>
                      <a:r>
                        <a:rPr kumimoji="1" lang="ja-JP" altLang="en-US" sz="1200">
                          <a:latin typeface="+mj-ea"/>
                          <a:ea typeface="+mj-ea"/>
                        </a:rPr>
                        <a:t>と同じくスタンプ、着せ替え</a:t>
                      </a:r>
                      <a:endParaRPr kumimoji="1" lang="ja-JP" altLang="en-US"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sz="1200" dirty="0">
                        <a:latin typeface="+mj-ea"/>
                        <a:ea typeface="+mj-ea"/>
                      </a:endParaRPr>
                    </a:p>
                  </a:txBody>
                  <a:tcPr/>
                </a:tc>
                <a:extLst>
                  <a:ext uri="{0D108BD9-81ED-4DB2-BD59-A6C34878D82A}">
                    <a16:rowId xmlns:a16="http://schemas.microsoft.com/office/drawing/2014/main" val="10005"/>
                  </a:ext>
                </a:extLst>
              </a:tr>
              <a:tr h="2152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j-ea"/>
                          <a:ea typeface="+mn-ea"/>
                          <a:cs typeface="+mn-cs"/>
                        </a:rPr>
                        <a:t>良いねと言った人の数と</a:t>
                      </a:r>
                      <a:endParaRPr kumimoji="1" lang="en-US" altLang="ja-JP" sz="1200" kern="1200" dirty="0">
                        <a:solidFill>
                          <a:schemeClr val="tx1"/>
                        </a:solidFill>
                        <a:latin typeface="+mj-ea"/>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j-ea"/>
                          <a:ea typeface="+mn-ea"/>
                          <a:cs typeface="+mn-cs"/>
                        </a:rPr>
                        <a:t>その理由（かける範囲で）</a:t>
                      </a:r>
                      <a:endParaRPr kumimoji="1" lang="en-US" altLang="ja-JP" sz="1200" kern="1200" dirty="0">
                        <a:solidFill>
                          <a:schemeClr val="tx1"/>
                        </a:solidFill>
                        <a:latin typeface="+mj-ea"/>
                        <a:ea typeface="+mn-ea"/>
                        <a:cs typeface="+mn-cs"/>
                      </a:endParaRPr>
                    </a:p>
                  </a:txBody>
                  <a:tcPr>
                    <a:lnR w="6350" cap="flat" cmpd="sng" algn="ctr">
                      <a:solidFill>
                        <a:schemeClr val="tx1"/>
                      </a:solidFill>
                      <a:prstDash val="solid"/>
                      <a:round/>
                      <a:headEnd type="none" w="med" len="med"/>
                      <a:tailEnd type="none" w="med" len="med"/>
                    </a:lnR>
                  </a:tcPr>
                </a:tc>
                <a:tc gridSpan="2">
                  <a:txBody>
                    <a:bodyPr/>
                    <a:lstStyle/>
                    <a:p>
                      <a:r>
                        <a:rPr kumimoji="1" lang="ja-JP" altLang="en-US" sz="1200" kern="1200">
                          <a:solidFill>
                            <a:schemeClr val="tx1"/>
                          </a:solidFill>
                          <a:latin typeface="+mj-ea"/>
                          <a:ea typeface="+mn-ea"/>
                          <a:cs typeface="+mn-cs"/>
                        </a:rPr>
                        <a:t>・社会人２名・</a:t>
                      </a:r>
                      <a:r>
                        <a:rPr kumimoji="1" lang="ja-JP" altLang="en-US" sz="1200">
                          <a:latin typeface="+mj-ea"/>
                          <a:ea typeface="+mj-ea"/>
                        </a:rPr>
                        <a:t>大学院生１人・専門学生１人</a:t>
                      </a:r>
                      <a:endParaRPr kumimoji="1" lang="en-US" altLang="ja-JP" sz="1200" dirty="0">
                        <a:latin typeface="+mj-ea"/>
                        <a:ea typeface="+mj-ea"/>
                      </a:endParaRPr>
                    </a:p>
                    <a:p>
                      <a:r>
                        <a:rPr kumimoji="1" lang="ja-JP" altLang="en-US" sz="1200">
                          <a:latin typeface="+mj-ea"/>
                          <a:ea typeface="+mj-ea"/>
                        </a:rPr>
                        <a:t>：対象のユーザー像に当てはまっており、実際に使いたいと思った。</a:t>
                      </a:r>
                      <a:endParaRPr kumimoji="1" lang="ja-JP" altLang="en-US" sz="1200" dirty="0">
                        <a:latin typeface="+mj-ea"/>
                        <a:ea typeface="+mj-ea"/>
                      </a:endParaRPr>
                    </a:p>
                  </a:txBody>
                  <a:tcPr>
                    <a:lnL w="6350" cap="flat" cmpd="sng" algn="ctr">
                      <a:solidFill>
                        <a:schemeClr val="tx1"/>
                      </a:solidFill>
                      <a:prstDash val="solid"/>
                      <a:round/>
                      <a:headEnd type="none" w="med" len="med"/>
                      <a:tailEnd type="none" w="med" len="med"/>
                    </a:lnL>
                  </a:tcPr>
                </a:tc>
                <a:tc hMerge="1">
                  <a:txBody>
                    <a:bodyPr/>
                    <a:lstStyle/>
                    <a:p>
                      <a:endParaRPr kumimoji="1" lang="ja-JP" altLang="en-US" sz="1200" dirty="0">
                        <a:latin typeface="+mj-ea"/>
                        <a:ea typeface="+mj-ea"/>
                      </a:endParaRPr>
                    </a:p>
                  </a:txBody>
                  <a:tcPr/>
                </a:tc>
                <a:extLst>
                  <a:ext uri="{0D108BD9-81ED-4DB2-BD59-A6C34878D82A}">
                    <a16:rowId xmlns:a16="http://schemas.microsoft.com/office/drawing/2014/main" val="3386209373"/>
                  </a:ext>
                </a:extLst>
              </a:tr>
            </a:tbl>
          </a:graphicData>
        </a:graphic>
      </p:graphicFrame>
      <p:sp>
        <p:nvSpPr>
          <p:cNvPr id="2" name="タイトル 1"/>
          <p:cNvSpPr>
            <a:spLocks noGrp="1"/>
          </p:cNvSpPr>
          <p:nvPr>
            <p:ph type="title"/>
          </p:nvPr>
        </p:nvSpPr>
        <p:spPr>
          <a:xfrm>
            <a:off x="958272" y="140692"/>
            <a:ext cx="7212012" cy="407988"/>
          </a:xfrm>
        </p:spPr>
        <p:txBody>
          <a:bodyPr/>
          <a:lstStyle/>
          <a:p>
            <a:r>
              <a:rPr lang="en-US" altLang="ja-JP" dirty="0"/>
              <a:t> IW31</a:t>
            </a:r>
            <a:r>
              <a:rPr lang="ja-JP" altLang="en-US"/>
              <a:t>就職作品企画</a:t>
            </a:r>
            <a:r>
              <a:rPr lang="ja-JP" altLang="en-US" dirty="0"/>
              <a:t>ワークシート</a:t>
            </a:r>
            <a:endParaRPr kumimoji="1" lang="ja-JP" altLang="en-US" dirty="0">
              <a:solidFill>
                <a:srgbClr val="FF0000"/>
              </a:solidFill>
              <a:latin typeface="+mj-ea"/>
            </a:endParaRPr>
          </a:p>
        </p:txBody>
      </p:sp>
      <p:sp>
        <p:nvSpPr>
          <p:cNvPr id="3" name="スライド番号プレースホルダー 2"/>
          <p:cNvSpPr>
            <a:spLocks noGrp="1"/>
          </p:cNvSpPr>
          <p:nvPr>
            <p:ph type="sldNum" sz="quarter" idx="4"/>
          </p:nvPr>
        </p:nvSpPr>
        <p:spPr/>
        <p:txBody>
          <a:bodyPr/>
          <a:lstStyle/>
          <a:p>
            <a:pPr fontAlgn="base">
              <a:spcBef>
                <a:spcPct val="0"/>
              </a:spcBef>
              <a:spcAft>
                <a:spcPct val="0"/>
              </a:spcAft>
              <a:defRPr/>
            </a:pPr>
            <a:fld id="{81D2FB6A-1870-4D90-8051-43D93852D7D6}" type="slidenum">
              <a:rPr lang="en-US" altLang="ja-JP">
                <a:latin typeface="Meiryo UI"/>
                <a:ea typeface="Meiryo UI"/>
              </a:rPr>
              <a:pPr fontAlgn="base">
                <a:spcBef>
                  <a:spcPct val="0"/>
                </a:spcBef>
                <a:spcAft>
                  <a:spcPct val="0"/>
                </a:spcAft>
                <a:defRPr/>
              </a:pPr>
              <a:t>3</a:t>
            </a:fld>
            <a:endParaRPr lang="en-US" altLang="ja-JP">
              <a:latin typeface="Meiryo UI"/>
              <a:ea typeface="Meiryo UI"/>
            </a:endParaRPr>
          </a:p>
        </p:txBody>
      </p:sp>
      <p:sp>
        <p:nvSpPr>
          <p:cNvPr id="5" name="正方形/長方形 4"/>
          <p:cNvSpPr/>
          <p:nvPr/>
        </p:nvSpPr>
        <p:spPr>
          <a:xfrm>
            <a:off x="10695384" y="116632"/>
            <a:ext cx="1368152" cy="432048"/>
          </a:xfrm>
          <a:prstGeom prst="rect">
            <a:avLst/>
          </a:prstGeom>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r>
              <a:rPr lang="en-US" altLang="ja-JP" sz="1400" dirty="0">
                <a:solidFill>
                  <a:srgbClr val="000000"/>
                </a:solidFill>
                <a:latin typeface="Meiryo UI"/>
                <a:ea typeface="Meiryo UI"/>
              </a:rPr>
              <a:t>Ver 01</a:t>
            </a:r>
          </a:p>
          <a:p>
            <a:pPr algn="ctr" fontAlgn="base">
              <a:spcBef>
                <a:spcPct val="0"/>
              </a:spcBef>
              <a:spcAft>
                <a:spcPct val="0"/>
              </a:spcAft>
            </a:pPr>
            <a:r>
              <a:rPr lang="ja-JP" altLang="en-US" sz="1400">
                <a:solidFill>
                  <a:srgbClr val="000000"/>
                </a:solidFill>
                <a:latin typeface="Meiryo UI"/>
                <a:ea typeface="Meiryo UI"/>
              </a:rPr>
              <a:t>日付</a:t>
            </a:r>
            <a:r>
              <a:rPr lang="en-US" altLang="ja-JP" sz="1400" dirty="0">
                <a:solidFill>
                  <a:srgbClr val="000000"/>
                </a:solidFill>
                <a:latin typeface="Meiryo UI"/>
                <a:ea typeface="Meiryo UI"/>
              </a:rPr>
              <a:t>:01/27</a:t>
            </a:r>
          </a:p>
        </p:txBody>
      </p:sp>
      <p:sp>
        <p:nvSpPr>
          <p:cNvPr id="6" name="テキスト ボックス 5">
            <a:extLst>
              <a:ext uri="{FF2B5EF4-FFF2-40B4-BE49-F238E27FC236}">
                <a16:creationId xmlns:a16="http://schemas.microsoft.com/office/drawing/2014/main" id="{71B2CC28-5463-184D-AC16-E8D3F96A47AB}"/>
              </a:ext>
            </a:extLst>
          </p:cNvPr>
          <p:cNvSpPr txBox="1"/>
          <p:nvPr/>
        </p:nvSpPr>
        <p:spPr>
          <a:xfrm>
            <a:off x="6478858" y="75962"/>
            <a:ext cx="4074841" cy="369332"/>
          </a:xfrm>
          <a:prstGeom prst="rect">
            <a:avLst/>
          </a:prstGeom>
          <a:noFill/>
        </p:spPr>
        <p:txBody>
          <a:bodyPr wrap="square" rtlCol="0">
            <a:spAutoFit/>
          </a:bodyPr>
          <a:lstStyle/>
          <a:p>
            <a:pPr algn="r"/>
            <a:r>
              <a:rPr lang="en-US" altLang="ja-JP" dirty="0"/>
              <a:t>IW-13A-004</a:t>
            </a:r>
            <a:r>
              <a:rPr lang="ja-JP" altLang="en-US"/>
              <a:t>　（</a:t>
            </a:r>
            <a:r>
              <a:rPr lang="en-US" altLang="ja-JP" dirty="0"/>
              <a:t>13</a:t>
            </a:r>
            <a:r>
              <a:rPr lang="ja-JP" altLang="en-US"/>
              <a:t>）　氏名：宮下裕希</a:t>
            </a:r>
            <a:endParaRPr lang="ja-JP" altLang="en-US" dirty="0"/>
          </a:p>
        </p:txBody>
      </p:sp>
      <p:sp>
        <p:nvSpPr>
          <p:cNvPr id="13" name="テキスト ボックス 12">
            <a:extLst>
              <a:ext uri="{FF2B5EF4-FFF2-40B4-BE49-F238E27FC236}">
                <a16:creationId xmlns:a16="http://schemas.microsoft.com/office/drawing/2014/main" id="{E940EC50-A9CA-904F-B25A-61FAFF4D934D}"/>
              </a:ext>
            </a:extLst>
          </p:cNvPr>
          <p:cNvSpPr txBox="1"/>
          <p:nvPr/>
        </p:nvSpPr>
        <p:spPr>
          <a:xfrm>
            <a:off x="9007512" y="1278481"/>
            <a:ext cx="2641962" cy="276999"/>
          </a:xfrm>
          <a:prstGeom prst="rect">
            <a:avLst/>
          </a:prstGeom>
          <a:solidFill>
            <a:schemeClr val="bg2">
              <a:lumMod val="85000"/>
            </a:schemeClr>
          </a:solidFill>
        </p:spPr>
        <p:txBody>
          <a:bodyPr wrap="square" rtlCol="0">
            <a:spAutoFit/>
          </a:bodyPr>
          <a:lstStyle/>
          <a:p>
            <a:pPr algn="ctr"/>
            <a:r>
              <a:rPr lang="ja-JP" altLang="en-US" sz="1200" b="1">
                <a:latin typeface="+mj-ea"/>
              </a:rPr>
              <a:t>機能</a:t>
            </a:r>
            <a:endParaRPr lang="en-US" altLang="ja-JP" sz="1200" b="1" dirty="0">
              <a:latin typeface="+mj-ea"/>
            </a:endParaRPr>
          </a:p>
        </p:txBody>
      </p:sp>
      <p:sp>
        <p:nvSpPr>
          <p:cNvPr id="14" name="テキスト ボックス 13">
            <a:extLst>
              <a:ext uri="{FF2B5EF4-FFF2-40B4-BE49-F238E27FC236}">
                <a16:creationId xmlns:a16="http://schemas.microsoft.com/office/drawing/2014/main" id="{56AB0CA1-F381-EB4A-B0C2-8ED27CAA6B08}"/>
              </a:ext>
            </a:extLst>
          </p:cNvPr>
          <p:cNvSpPr txBox="1"/>
          <p:nvPr/>
        </p:nvSpPr>
        <p:spPr>
          <a:xfrm>
            <a:off x="6230775" y="1278480"/>
            <a:ext cx="2641962" cy="276999"/>
          </a:xfrm>
          <a:prstGeom prst="rect">
            <a:avLst/>
          </a:prstGeom>
          <a:solidFill>
            <a:schemeClr val="bg2">
              <a:lumMod val="85000"/>
            </a:schemeClr>
          </a:solidFill>
        </p:spPr>
        <p:txBody>
          <a:bodyPr wrap="square" rtlCol="0">
            <a:spAutoFit/>
          </a:bodyPr>
          <a:lstStyle/>
          <a:p>
            <a:pPr algn="ctr"/>
            <a:r>
              <a:rPr lang="ja-JP" altLang="en-US" sz="1200" b="1">
                <a:latin typeface="+mj-ea"/>
              </a:rPr>
              <a:t>目標</a:t>
            </a:r>
            <a:endParaRPr lang="en-US" altLang="ja-JP" sz="1200" b="1" dirty="0">
              <a:latin typeface="+mj-ea"/>
            </a:endParaRPr>
          </a:p>
        </p:txBody>
      </p:sp>
      <p:sp>
        <p:nvSpPr>
          <p:cNvPr id="15" name="テキスト ボックス 14">
            <a:extLst>
              <a:ext uri="{FF2B5EF4-FFF2-40B4-BE49-F238E27FC236}">
                <a16:creationId xmlns:a16="http://schemas.microsoft.com/office/drawing/2014/main" id="{FC979AAC-EA37-C340-A76C-37A94B70219D}"/>
              </a:ext>
            </a:extLst>
          </p:cNvPr>
          <p:cNvSpPr txBox="1"/>
          <p:nvPr/>
        </p:nvSpPr>
        <p:spPr>
          <a:xfrm>
            <a:off x="3305051" y="1278480"/>
            <a:ext cx="2790949" cy="276999"/>
          </a:xfrm>
          <a:prstGeom prst="rect">
            <a:avLst/>
          </a:prstGeom>
          <a:solidFill>
            <a:schemeClr val="bg2">
              <a:lumMod val="85000"/>
            </a:schemeClr>
          </a:solidFill>
        </p:spPr>
        <p:txBody>
          <a:bodyPr wrap="square" rtlCol="0">
            <a:spAutoFit/>
          </a:bodyPr>
          <a:lstStyle/>
          <a:p>
            <a:pPr algn="ctr"/>
            <a:r>
              <a:rPr lang="ja-JP" altLang="en-US" sz="1200" b="1">
                <a:latin typeface="+mj-ea"/>
              </a:rPr>
              <a:t>目的</a:t>
            </a:r>
            <a:endParaRPr lang="en-US" altLang="ja-JP" sz="1200" b="1" dirty="0">
              <a:latin typeface="+mj-ea"/>
            </a:endParaRPr>
          </a:p>
        </p:txBody>
      </p:sp>
      <p:sp>
        <p:nvSpPr>
          <p:cNvPr id="16" name="テキスト ボックス 15">
            <a:extLst>
              <a:ext uri="{FF2B5EF4-FFF2-40B4-BE49-F238E27FC236}">
                <a16:creationId xmlns:a16="http://schemas.microsoft.com/office/drawing/2014/main" id="{09C92005-2E00-C84D-B9D2-9CA04B477D52}"/>
              </a:ext>
            </a:extLst>
          </p:cNvPr>
          <p:cNvSpPr txBox="1"/>
          <p:nvPr/>
        </p:nvSpPr>
        <p:spPr>
          <a:xfrm>
            <a:off x="393541" y="1278481"/>
            <a:ext cx="2790949" cy="276999"/>
          </a:xfrm>
          <a:prstGeom prst="rect">
            <a:avLst/>
          </a:prstGeom>
          <a:solidFill>
            <a:schemeClr val="bg2">
              <a:lumMod val="85000"/>
            </a:schemeClr>
          </a:solidFill>
        </p:spPr>
        <p:txBody>
          <a:bodyPr wrap="square" rtlCol="0">
            <a:spAutoFit/>
          </a:bodyPr>
          <a:lstStyle/>
          <a:p>
            <a:pPr algn="ctr"/>
            <a:r>
              <a:rPr lang="ja-JP" altLang="en-US" sz="1200" b="1">
                <a:latin typeface="+mj-ea"/>
              </a:rPr>
              <a:t>概要</a:t>
            </a:r>
            <a:endParaRPr lang="en-US" altLang="ja-JP" sz="1200" b="1" dirty="0">
              <a:latin typeface="+mj-ea"/>
            </a:endParaRPr>
          </a:p>
        </p:txBody>
      </p:sp>
      <p:sp>
        <p:nvSpPr>
          <p:cNvPr id="19" name="テキスト ボックス 18">
            <a:extLst>
              <a:ext uri="{FF2B5EF4-FFF2-40B4-BE49-F238E27FC236}">
                <a16:creationId xmlns:a16="http://schemas.microsoft.com/office/drawing/2014/main" id="{BBA6C01F-50E4-344E-8FCA-C75917C106F8}"/>
              </a:ext>
            </a:extLst>
          </p:cNvPr>
          <p:cNvSpPr txBox="1"/>
          <p:nvPr/>
        </p:nvSpPr>
        <p:spPr>
          <a:xfrm>
            <a:off x="6317181" y="2182968"/>
            <a:ext cx="2513501" cy="738664"/>
          </a:xfrm>
          <a:prstGeom prst="rect">
            <a:avLst/>
          </a:prstGeom>
          <a:noFill/>
        </p:spPr>
        <p:txBody>
          <a:bodyPr wrap="square" rtlCol="0">
            <a:spAutoFit/>
          </a:bodyPr>
          <a:lstStyle/>
          <a:p>
            <a:r>
              <a:rPr lang="en-US" altLang="ja-JP" sz="1050" dirty="0"/>
              <a:t>①</a:t>
            </a:r>
            <a:r>
              <a:rPr lang="ja-JP" altLang="en-US" sz="1050"/>
              <a:t>について</a:t>
            </a:r>
            <a:endParaRPr lang="en-US" altLang="ja-JP" sz="1050" dirty="0"/>
          </a:p>
          <a:p>
            <a:r>
              <a:rPr lang="ja-JP" altLang="en-US" sz="1050"/>
              <a:t>・散歩を</a:t>
            </a:r>
            <a:r>
              <a:rPr lang="en-US" altLang="ja-JP" sz="1050" dirty="0"/>
              <a:t>1</a:t>
            </a:r>
            <a:r>
              <a:rPr lang="ja-JP" altLang="en-US" sz="1050"/>
              <a:t>人でやるとめんどくさいだるいという</a:t>
            </a:r>
            <a:endParaRPr lang="en-US" altLang="ja-JP" sz="1050" dirty="0"/>
          </a:p>
          <a:p>
            <a:r>
              <a:rPr lang="ja-JP" altLang="en-US" sz="1050"/>
              <a:t>感情が生まれやすいため誰かと行く約束をする必要がある。</a:t>
            </a:r>
            <a:endParaRPr lang="en-US" altLang="ja-JP" sz="1050" dirty="0"/>
          </a:p>
        </p:txBody>
      </p:sp>
      <p:sp>
        <p:nvSpPr>
          <p:cNvPr id="20" name="テキスト ボックス 19">
            <a:extLst>
              <a:ext uri="{FF2B5EF4-FFF2-40B4-BE49-F238E27FC236}">
                <a16:creationId xmlns:a16="http://schemas.microsoft.com/office/drawing/2014/main" id="{19CF6889-A707-6247-8D9E-A1B97879D7DB}"/>
              </a:ext>
            </a:extLst>
          </p:cNvPr>
          <p:cNvSpPr txBox="1"/>
          <p:nvPr/>
        </p:nvSpPr>
        <p:spPr>
          <a:xfrm>
            <a:off x="9133671" y="1906967"/>
            <a:ext cx="2513501" cy="1869743"/>
          </a:xfrm>
          <a:prstGeom prst="rect">
            <a:avLst/>
          </a:prstGeom>
          <a:noFill/>
        </p:spPr>
        <p:txBody>
          <a:bodyPr wrap="square" rtlCol="0">
            <a:spAutoFit/>
          </a:bodyPr>
          <a:lstStyle/>
          <a:p>
            <a:r>
              <a:rPr kumimoji="1" lang="ja-JP" altLang="en-US" sz="1050"/>
              <a:t>・</a:t>
            </a:r>
            <a:r>
              <a:rPr kumimoji="1" lang="en-US" altLang="ja-JP" sz="1050" dirty="0">
                <a:highlight>
                  <a:srgbClr val="FFFF00"/>
                </a:highlight>
              </a:rPr>
              <a:t>LINE</a:t>
            </a:r>
            <a:r>
              <a:rPr kumimoji="1" lang="ja-JP" altLang="en-US" sz="1050"/>
              <a:t>（タイムライン／トーク／</a:t>
            </a:r>
            <a:r>
              <a:rPr lang="ja-JP" altLang="en-US" sz="1050"/>
              <a:t>グループ</a:t>
            </a:r>
            <a:r>
              <a:rPr kumimoji="1" lang="ja-JP" altLang="en-US" sz="1050"/>
              <a:t>）</a:t>
            </a:r>
            <a:endParaRPr kumimoji="1" lang="en-US" altLang="ja-JP" sz="1050" dirty="0"/>
          </a:p>
          <a:p>
            <a:r>
              <a:rPr lang="ja-JP" altLang="en-US" sz="1050"/>
              <a:t>・</a:t>
            </a:r>
            <a:r>
              <a:rPr lang="ja-JP" altLang="en-US" sz="1050">
                <a:highlight>
                  <a:srgbClr val="FFFF00"/>
                </a:highlight>
              </a:rPr>
              <a:t>散歩募集するための人員募集機能</a:t>
            </a:r>
            <a:endParaRPr lang="en-US" altLang="ja-JP" sz="1050" dirty="0">
              <a:highlight>
                <a:srgbClr val="FFFF00"/>
              </a:highlight>
            </a:endParaRPr>
          </a:p>
          <a:p>
            <a:r>
              <a:rPr kumimoji="1" lang="ja-JP" altLang="en-US" sz="1050"/>
              <a:t>（サービスの概要／プランの紹介／ユーザー</a:t>
            </a:r>
            <a:endParaRPr kumimoji="1" lang="en-US" altLang="ja-JP" sz="1050" dirty="0"/>
          </a:p>
          <a:p>
            <a:r>
              <a:rPr lang="ja-JP" altLang="en-US" sz="1050"/>
              <a:t>　　</a:t>
            </a:r>
            <a:r>
              <a:rPr kumimoji="1" lang="ja-JP" altLang="en-US" sz="1050"/>
              <a:t>からのレビュー）</a:t>
            </a:r>
            <a:endParaRPr kumimoji="1" lang="en-US" altLang="ja-JP" sz="1050" dirty="0"/>
          </a:p>
          <a:p>
            <a:r>
              <a:rPr lang="ja-JP" altLang="en-US" sz="1050"/>
              <a:t>・</a:t>
            </a:r>
            <a:r>
              <a:rPr lang="ja-JP" altLang="en-US" sz="1050">
                <a:highlight>
                  <a:srgbClr val="FFFF00"/>
                </a:highlight>
              </a:rPr>
              <a:t>レビュー、評価機能</a:t>
            </a:r>
            <a:endParaRPr lang="en-US" altLang="ja-JP" sz="1050" dirty="0">
              <a:highlight>
                <a:srgbClr val="FFFF00"/>
              </a:highlight>
            </a:endParaRPr>
          </a:p>
          <a:p>
            <a:r>
              <a:rPr kumimoji="1" lang="ja-JP" altLang="en-US" sz="1050"/>
              <a:t>（散歩を行った人に対してにレビュー、評価（</a:t>
            </a:r>
            <a:r>
              <a:rPr kumimoji="1" lang="en-US" altLang="ja-JP" sz="1050" dirty="0"/>
              <a:t>5</a:t>
            </a:r>
            <a:r>
              <a:rPr kumimoji="1" lang="ja-JP" altLang="en-US" sz="1050"/>
              <a:t>段階）を書き込むことができる）</a:t>
            </a:r>
            <a:endParaRPr kumimoji="1" lang="en-US" altLang="ja-JP" sz="1050" dirty="0"/>
          </a:p>
          <a:p>
            <a:r>
              <a:rPr lang="ja-JP" altLang="en-US" sz="1050"/>
              <a:t>・</a:t>
            </a:r>
            <a:r>
              <a:rPr lang="ja-JP" altLang="en-US" sz="1050">
                <a:highlight>
                  <a:srgbClr val="FFFF00"/>
                </a:highlight>
              </a:rPr>
              <a:t>散歩を一度行った人を管理する機能</a:t>
            </a:r>
            <a:endParaRPr lang="en-US" altLang="ja-JP" sz="1050" dirty="0">
              <a:highlight>
                <a:srgbClr val="FFFF00"/>
              </a:highlight>
            </a:endParaRPr>
          </a:p>
          <a:p>
            <a:r>
              <a:rPr lang="ja-JP" altLang="en-US" sz="1050"/>
              <a:t>一度散歩に行ったことがある人をブロック、削除、又は次回から「今日も行きませんか？」と直接トークで送ることができる</a:t>
            </a:r>
            <a:endParaRPr lang="en-US" altLang="ja-JP" sz="1050" dirty="0"/>
          </a:p>
        </p:txBody>
      </p:sp>
      <p:sp>
        <p:nvSpPr>
          <p:cNvPr id="21" name="テキスト ボックス 20">
            <a:extLst>
              <a:ext uri="{FF2B5EF4-FFF2-40B4-BE49-F238E27FC236}">
                <a16:creationId xmlns:a16="http://schemas.microsoft.com/office/drawing/2014/main" id="{5D0D4A0E-CE7E-A241-9525-C922B463877C}"/>
              </a:ext>
            </a:extLst>
          </p:cNvPr>
          <p:cNvSpPr txBox="1"/>
          <p:nvPr/>
        </p:nvSpPr>
        <p:spPr>
          <a:xfrm>
            <a:off x="393541" y="1687676"/>
            <a:ext cx="2790949" cy="1661993"/>
          </a:xfrm>
          <a:prstGeom prst="rect">
            <a:avLst/>
          </a:prstGeom>
          <a:noFill/>
        </p:spPr>
        <p:txBody>
          <a:bodyPr wrap="square" rtlCol="0">
            <a:spAutoFit/>
          </a:bodyPr>
          <a:lstStyle/>
          <a:p>
            <a:r>
              <a:rPr lang="ja-JP" altLang="en-US" sz="1200">
                <a:highlight>
                  <a:srgbClr val="FFFF00"/>
                </a:highlight>
              </a:rPr>
              <a:t>　「散歩を楽しく行ける</a:t>
            </a:r>
            <a:r>
              <a:rPr lang="en-US" altLang="ja-JP" sz="1200" dirty="0">
                <a:highlight>
                  <a:srgbClr val="FFFF00"/>
                </a:highlight>
              </a:rPr>
              <a:t>C to C</a:t>
            </a:r>
            <a:r>
              <a:rPr lang="ja-JP" altLang="en-US" sz="1200">
                <a:highlight>
                  <a:srgbClr val="FFFF00"/>
                </a:highlight>
              </a:rPr>
              <a:t>　コミュニティ 」</a:t>
            </a:r>
            <a:r>
              <a:rPr lang="ja-JP" altLang="en-US" sz="1200"/>
              <a:t>　</a:t>
            </a:r>
            <a:r>
              <a:rPr lang="ja-JP" altLang="en-US" sz="1200">
                <a:highlight>
                  <a:srgbClr val="FFFF00"/>
                </a:highlight>
              </a:rPr>
              <a:t>　</a:t>
            </a:r>
            <a:endParaRPr lang="en-US" altLang="ja-JP" sz="1200" dirty="0">
              <a:highlight>
                <a:srgbClr val="FFFF00"/>
              </a:highlight>
            </a:endParaRPr>
          </a:p>
          <a:p>
            <a:pPr algn="ctr">
              <a:lnSpc>
                <a:spcPct val="150000"/>
              </a:lnSpc>
            </a:pPr>
            <a:r>
              <a:rPr lang="en-US" altLang="ja-JP" sz="1000" dirty="0">
                <a:solidFill>
                  <a:schemeClr val="tx1">
                    <a:lumMod val="50000"/>
                    <a:lumOff val="50000"/>
                  </a:schemeClr>
                </a:solidFill>
              </a:rPr>
              <a:t>〜</a:t>
            </a:r>
            <a:r>
              <a:rPr lang="en-US" altLang="ja-JP" sz="1000" dirty="0">
                <a:latin typeface="+mj-ea"/>
              </a:rPr>
              <a:t> C</a:t>
            </a:r>
            <a:r>
              <a:rPr lang="ja-JP" altLang="en-US" sz="1000">
                <a:latin typeface="+mj-ea"/>
              </a:rPr>
              <a:t> </a:t>
            </a:r>
            <a:r>
              <a:rPr lang="en-US" altLang="ja-JP" sz="1000" dirty="0">
                <a:latin typeface="+mj-ea"/>
              </a:rPr>
              <a:t>to C </a:t>
            </a:r>
            <a:r>
              <a:rPr lang="ja-JP" altLang="en-US" sz="1000">
                <a:latin typeface="+mj-ea"/>
              </a:rPr>
              <a:t>求人募集アプリ</a:t>
            </a:r>
            <a:r>
              <a:rPr lang="en-US" altLang="ja-JP" sz="1000" dirty="0">
                <a:solidFill>
                  <a:schemeClr val="tx1">
                    <a:lumMod val="50000"/>
                    <a:lumOff val="50000"/>
                  </a:schemeClr>
                </a:solidFill>
              </a:rPr>
              <a:t>〜</a:t>
            </a:r>
          </a:p>
          <a:p>
            <a:pPr algn="ctr">
              <a:lnSpc>
                <a:spcPct val="150000"/>
              </a:lnSpc>
            </a:pPr>
            <a:endParaRPr lang="en-US" altLang="ja-JP" sz="1000" dirty="0">
              <a:solidFill>
                <a:schemeClr val="tx1">
                  <a:lumMod val="50000"/>
                  <a:lumOff val="50000"/>
                </a:schemeClr>
              </a:solidFill>
            </a:endParaRPr>
          </a:p>
          <a:p>
            <a:r>
              <a:rPr lang="ja-JP" altLang="en-US" sz="1000"/>
              <a:t>・散歩に行かないと思った時にこの地点から半径？　</a:t>
            </a:r>
            <a:r>
              <a:rPr lang="en-US" altLang="ja-JP" sz="1000" dirty="0"/>
              <a:t>Km</a:t>
            </a:r>
            <a:r>
              <a:rPr lang="ja-JP" altLang="en-US" sz="1000"/>
              <a:t>の人を募集することができる</a:t>
            </a:r>
            <a:r>
              <a:rPr lang="en-US" altLang="ja-JP" sz="1000" dirty="0"/>
              <a:t> </a:t>
            </a:r>
          </a:p>
          <a:p>
            <a:r>
              <a:rPr lang="ja-JP" altLang="en-US" sz="1000"/>
              <a:t>・</a:t>
            </a:r>
            <a:r>
              <a:rPr lang="en-US" altLang="ja-JP" sz="1000" dirty="0"/>
              <a:t> </a:t>
            </a:r>
            <a:r>
              <a:rPr lang="ja-JP" altLang="en-US" sz="1000"/>
              <a:t>募集されているところに参加をしたければ申請を送る承諾されるとトークを開始することができる。</a:t>
            </a:r>
            <a:endParaRPr lang="en-US" altLang="ja-JP" sz="1000" dirty="0"/>
          </a:p>
          <a:p>
            <a:r>
              <a:rPr lang="ja-JP" altLang="en-US" sz="1000"/>
              <a:t>・散歩終了後にお互いにどうだったのかを評価をつける。その評価を他ユーザーにも見ることができる</a:t>
            </a:r>
            <a:endParaRPr lang="en-US" altLang="ja-JP" sz="1000" dirty="0"/>
          </a:p>
        </p:txBody>
      </p:sp>
      <p:sp>
        <p:nvSpPr>
          <p:cNvPr id="22" name="三角形 21">
            <a:extLst>
              <a:ext uri="{FF2B5EF4-FFF2-40B4-BE49-F238E27FC236}">
                <a16:creationId xmlns:a16="http://schemas.microsoft.com/office/drawing/2014/main" id="{08A2CA94-1CD7-CC4A-9BAE-718E555A8CBB}"/>
              </a:ext>
            </a:extLst>
          </p:cNvPr>
          <p:cNvSpPr/>
          <p:nvPr/>
        </p:nvSpPr>
        <p:spPr>
          <a:xfrm rot="5400000">
            <a:off x="2887609" y="2661404"/>
            <a:ext cx="800742" cy="206980"/>
          </a:xfrm>
          <a:prstGeom prst="triangle">
            <a:avLst/>
          </a:prstGeom>
          <a:solidFill>
            <a:schemeClr val="accent5"/>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sz="14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23" name="三角形 22">
            <a:extLst>
              <a:ext uri="{FF2B5EF4-FFF2-40B4-BE49-F238E27FC236}">
                <a16:creationId xmlns:a16="http://schemas.microsoft.com/office/drawing/2014/main" id="{1583BB12-35C7-2744-A304-D732FF6EED88}"/>
              </a:ext>
            </a:extLst>
          </p:cNvPr>
          <p:cNvSpPr/>
          <p:nvPr/>
        </p:nvSpPr>
        <p:spPr>
          <a:xfrm rot="5400000">
            <a:off x="5799119" y="2661404"/>
            <a:ext cx="800742" cy="206980"/>
          </a:xfrm>
          <a:prstGeom prst="triangle">
            <a:avLst/>
          </a:prstGeom>
          <a:solidFill>
            <a:schemeClr val="accent5"/>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sz="14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24" name="三角形 23">
            <a:extLst>
              <a:ext uri="{FF2B5EF4-FFF2-40B4-BE49-F238E27FC236}">
                <a16:creationId xmlns:a16="http://schemas.microsoft.com/office/drawing/2014/main" id="{AFB705B9-9643-554F-8F4B-04862CB6A2FE}"/>
              </a:ext>
            </a:extLst>
          </p:cNvPr>
          <p:cNvSpPr/>
          <p:nvPr/>
        </p:nvSpPr>
        <p:spPr>
          <a:xfrm rot="5400000">
            <a:off x="8582171" y="2661404"/>
            <a:ext cx="800742" cy="206980"/>
          </a:xfrm>
          <a:prstGeom prst="triangle">
            <a:avLst/>
          </a:prstGeom>
          <a:solidFill>
            <a:schemeClr val="accent5"/>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sz="1400" dirty="0">
              <a:solidFill>
                <a:schemeClr val="tx1"/>
              </a:solidFill>
              <a:latin typeface="HGP創英角ｺﾞｼｯｸUB" panose="020B0900000000000000" pitchFamily="50" charset="-128"/>
              <a:ea typeface="HGP創英角ｺﾞｼｯｸUB" panose="020B0900000000000000" pitchFamily="50" charset="-128"/>
            </a:endParaRPr>
          </a:p>
        </p:txBody>
      </p:sp>
      <p:sp>
        <p:nvSpPr>
          <p:cNvPr id="9" name="正方形/長方形 8">
            <a:extLst>
              <a:ext uri="{FF2B5EF4-FFF2-40B4-BE49-F238E27FC236}">
                <a16:creationId xmlns:a16="http://schemas.microsoft.com/office/drawing/2014/main" id="{D2AC8BDD-5950-3A4D-8C7B-F647A756B416}"/>
              </a:ext>
            </a:extLst>
          </p:cNvPr>
          <p:cNvSpPr/>
          <p:nvPr/>
        </p:nvSpPr>
        <p:spPr>
          <a:xfrm>
            <a:off x="3407974" y="2391715"/>
            <a:ext cx="2742679" cy="577081"/>
          </a:xfrm>
          <a:prstGeom prst="rect">
            <a:avLst/>
          </a:prstGeom>
        </p:spPr>
        <p:txBody>
          <a:bodyPr wrap="square">
            <a:spAutoFit/>
          </a:bodyPr>
          <a:lstStyle/>
          <a:p>
            <a:r>
              <a:rPr lang="ja-JP" altLang="en-US" sz="1050"/>
              <a:t>①散歩をするのがめんどくさい人に対して散歩をするのは楽しいと思える環境を作る</a:t>
            </a:r>
            <a:endParaRPr lang="en-US" altLang="ja-JP" sz="1050" dirty="0"/>
          </a:p>
          <a:p>
            <a:r>
              <a:rPr lang="ja-JP" altLang="en-US" sz="1050"/>
              <a:t>②犬の爪を削り、肉球にささらないようにするため</a:t>
            </a:r>
            <a:endParaRPr lang="en-US" altLang="ja-JP" sz="1050" dirty="0"/>
          </a:p>
        </p:txBody>
      </p:sp>
      <p:sp>
        <p:nvSpPr>
          <p:cNvPr id="7" name="テキスト ボックス 6">
            <a:extLst>
              <a:ext uri="{FF2B5EF4-FFF2-40B4-BE49-F238E27FC236}">
                <a16:creationId xmlns:a16="http://schemas.microsoft.com/office/drawing/2014/main" id="{EC325B4C-7820-CE48-B03F-B58D9C9F683A}"/>
              </a:ext>
            </a:extLst>
          </p:cNvPr>
          <p:cNvSpPr txBox="1"/>
          <p:nvPr/>
        </p:nvSpPr>
        <p:spPr>
          <a:xfrm>
            <a:off x="10026379" y="1639092"/>
            <a:ext cx="728084" cy="261610"/>
          </a:xfrm>
          <a:prstGeom prst="rect">
            <a:avLst/>
          </a:prstGeom>
          <a:noFill/>
        </p:spPr>
        <p:txBody>
          <a:bodyPr wrap="none" rtlCol="0">
            <a:spAutoFit/>
          </a:bodyPr>
          <a:lstStyle/>
          <a:p>
            <a:r>
              <a:rPr kumimoji="1" lang="ja-JP" altLang="en-US" sz="1100"/>
              <a:t>主な機能</a:t>
            </a:r>
          </a:p>
        </p:txBody>
      </p:sp>
    </p:spTree>
    <p:extLst>
      <p:ext uri="{BB962C8B-B14F-4D97-AF65-F5344CB8AC3E}">
        <p14:creationId xmlns:p14="http://schemas.microsoft.com/office/powerpoint/2010/main" val="135617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58272" y="140692"/>
            <a:ext cx="7212012" cy="407988"/>
          </a:xfrm>
        </p:spPr>
        <p:txBody>
          <a:bodyPr/>
          <a:lstStyle/>
          <a:p>
            <a:r>
              <a:rPr lang="en-US" altLang="ja-JP" dirty="0"/>
              <a:t> IW31</a:t>
            </a:r>
            <a:r>
              <a:rPr lang="ja-JP" altLang="en-US"/>
              <a:t>就職作品企画</a:t>
            </a:r>
            <a:r>
              <a:rPr lang="ja-JP" altLang="en-US" dirty="0"/>
              <a:t>ワークシート</a:t>
            </a:r>
            <a:endParaRPr kumimoji="1" lang="ja-JP" altLang="en-US" dirty="0">
              <a:latin typeface="+mj-ea"/>
            </a:endParaRPr>
          </a:p>
        </p:txBody>
      </p:sp>
      <p:sp>
        <p:nvSpPr>
          <p:cNvPr id="3" name="スライド番号プレースホルダー 2"/>
          <p:cNvSpPr>
            <a:spLocks noGrp="1"/>
          </p:cNvSpPr>
          <p:nvPr>
            <p:ph type="sldNum" sz="quarter" idx="4"/>
          </p:nvPr>
        </p:nvSpPr>
        <p:spPr/>
        <p:txBody>
          <a:bodyPr/>
          <a:lstStyle/>
          <a:p>
            <a:pPr fontAlgn="base">
              <a:spcBef>
                <a:spcPct val="0"/>
              </a:spcBef>
              <a:spcAft>
                <a:spcPct val="0"/>
              </a:spcAft>
              <a:defRPr/>
            </a:pPr>
            <a:fld id="{81D2FB6A-1870-4D90-8051-43D93852D7D6}" type="slidenum">
              <a:rPr lang="en-US" altLang="ja-JP">
                <a:latin typeface="Meiryo UI"/>
                <a:ea typeface="Meiryo UI"/>
              </a:rPr>
              <a:pPr fontAlgn="base">
                <a:spcBef>
                  <a:spcPct val="0"/>
                </a:spcBef>
                <a:spcAft>
                  <a:spcPct val="0"/>
                </a:spcAft>
                <a:defRPr/>
              </a:pPr>
              <a:t>4</a:t>
            </a:fld>
            <a:endParaRPr lang="en-US" altLang="ja-JP">
              <a:latin typeface="Meiryo UI"/>
              <a:ea typeface="Meiryo UI"/>
            </a:endParaRPr>
          </a:p>
        </p:txBody>
      </p:sp>
      <p:graphicFrame>
        <p:nvGraphicFramePr>
          <p:cNvPr id="4" name="表 3"/>
          <p:cNvGraphicFramePr>
            <a:graphicFrameLocks noGrp="1"/>
          </p:cNvGraphicFramePr>
          <p:nvPr>
            <p:extLst>
              <p:ext uri="{D42A27DB-BD31-4B8C-83A1-F6EECF244321}">
                <p14:modId xmlns:p14="http://schemas.microsoft.com/office/powerpoint/2010/main" val="948703949"/>
              </p:ext>
            </p:extLst>
          </p:nvPr>
        </p:nvGraphicFramePr>
        <p:xfrm>
          <a:off x="312637" y="637683"/>
          <a:ext cx="11411712" cy="5637218"/>
        </p:xfrm>
        <a:graphic>
          <a:graphicData uri="http://schemas.openxmlformats.org/drawingml/2006/table">
            <a:tbl>
              <a:tblPr firstRow="1" bandRow="1">
                <a:tableStyleId>{7E9639D4-E3E2-4D34-9284-5A2195B3D0D7}</a:tableStyleId>
              </a:tblPr>
              <a:tblGrid>
                <a:gridCol w="11203432">
                  <a:extLst>
                    <a:ext uri="{9D8B030D-6E8A-4147-A177-3AD203B41FA5}">
                      <a16:colId xmlns:a16="http://schemas.microsoft.com/office/drawing/2014/main" val="20000"/>
                    </a:ext>
                  </a:extLst>
                </a:gridCol>
                <a:gridCol w="208280">
                  <a:extLst>
                    <a:ext uri="{9D8B030D-6E8A-4147-A177-3AD203B41FA5}">
                      <a16:colId xmlns:a16="http://schemas.microsoft.com/office/drawing/2014/main" val="20002"/>
                    </a:ext>
                  </a:extLst>
                </a:gridCol>
              </a:tblGrid>
              <a:tr h="362682">
                <a:tc>
                  <a:txBody>
                    <a:bodyPr/>
                    <a:lstStyle/>
                    <a:p>
                      <a:r>
                        <a:rPr kumimoji="1" lang="ja-JP" altLang="en-US" sz="1800" b="1" kern="1200">
                          <a:solidFill>
                            <a:schemeClr val="bg1"/>
                          </a:solidFill>
                          <a:latin typeface="+mj-ea"/>
                          <a:ea typeface="+mn-ea"/>
                          <a:cs typeface="+mn-cs"/>
                        </a:rPr>
                        <a:t>システム・サービス名：　</a:t>
                      </a:r>
                      <a:r>
                        <a:rPr kumimoji="1" lang="en-US" altLang="ja-JP" sz="1800" b="1" kern="1200" dirty="0">
                          <a:solidFill>
                            <a:schemeClr val="bg1"/>
                          </a:solidFill>
                          <a:latin typeface="+mj-ea"/>
                          <a:ea typeface="+mn-ea"/>
                          <a:cs typeface="+mn-cs"/>
                        </a:rPr>
                        <a:t>SUBSCLIST</a:t>
                      </a:r>
                      <a:r>
                        <a:rPr kumimoji="1" lang="ja-JP" altLang="en-US" sz="1800" b="1" kern="1200">
                          <a:solidFill>
                            <a:schemeClr val="bg1"/>
                          </a:solidFill>
                          <a:latin typeface="+mj-ea"/>
                          <a:ea typeface="+mn-ea"/>
                          <a:cs typeface="+mn-cs"/>
                        </a:rPr>
                        <a:t>（サブスクリスト）</a:t>
                      </a:r>
                      <a:endParaRPr kumimoji="1" lang="ja-JP" altLang="en-US" sz="1800" b="1" kern="1200" dirty="0">
                        <a:solidFill>
                          <a:schemeClr val="bg1"/>
                        </a:solidFill>
                        <a:latin typeface="+mj-ea"/>
                        <a:ea typeface="+mn-ea"/>
                        <a:cs typeface="+mn-cs"/>
                      </a:endParaRPr>
                    </a:p>
                  </a:txBody>
                  <a:tcPr/>
                </a:tc>
                <a:tc>
                  <a:txBody>
                    <a:bodyPr/>
                    <a:lstStyle/>
                    <a:p>
                      <a:endParaRPr kumimoji="1" lang="ja-JP" altLang="en-US" dirty="0"/>
                    </a:p>
                  </a:txBody>
                  <a:tcPr/>
                </a:tc>
                <a:extLst>
                  <a:ext uri="{0D108BD9-81ED-4DB2-BD59-A6C34878D82A}">
                    <a16:rowId xmlns:a16="http://schemas.microsoft.com/office/drawing/2014/main" val="10000"/>
                  </a:ext>
                </a:extLst>
              </a:tr>
              <a:tr h="5271458">
                <a:tc gridSpan="2">
                  <a:txBody>
                    <a:bodyPr/>
                    <a:lstStyle/>
                    <a:p>
                      <a:r>
                        <a:rPr kumimoji="1" lang="ja-JP" altLang="en-US" sz="1200" b="0" dirty="0">
                          <a:latin typeface="+mj-ea"/>
                          <a:ea typeface="+mj-ea"/>
                        </a:rPr>
                        <a:t>画面イメージ</a:t>
                      </a:r>
                      <a:endParaRPr kumimoji="1" lang="ja-JP" altLang="en-US" sz="1200" b="1" dirty="0">
                        <a:latin typeface="+mj-ea"/>
                        <a:ea typeface="+mj-ea"/>
                      </a:endParaRPr>
                    </a:p>
                  </a:txBody>
                  <a:tcPr/>
                </a:tc>
                <a:tc hMerge="1">
                  <a:txBody>
                    <a:bodyPr/>
                    <a:lstStyle/>
                    <a:p>
                      <a:endParaRPr kumimoji="1" lang="ja-JP" altLang="en-US"/>
                    </a:p>
                  </a:txBody>
                  <a:tcPr/>
                </a:tc>
                <a:extLst>
                  <a:ext uri="{0D108BD9-81ED-4DB2-BD59-A6C34878D82A}">
                    <a16:rowId xmlns:a16="http://schemas.microsoft.com/office/drawing/2014/main" val="10001"/>
                  </a:ext>
                </a:extLst>
              </a:tr>
            </a:tbl>
          </a:graphicData>
        </a:graphic>
      </p:graphicFrame>
      <p:sp>
        <p:nvSpPr>
          <p:cNvPr id="7" name="テキスト ボックス 6">
            <a:extLst>
              <a:ext uri="{FF2B5EF4-FFF2-40B4-BE49-F238E27FC236}">
                <a16:creationId xmlns:a16="http://schemas.microsoft.com/office/drawing/2014/main" id="{ED682995-9FF3-AA46-BB0A-87D4FE3769B3}"/>
              </a:ext>
            </a:extLst>
          </p:cNvPr>
          <p:cNvSpPr txBox="1"/>
          <p:nvPr/>
        </p:nvSpPr>
        <p:spPr>
          <a:xfrm>
            <a:off x="6478858" y="75962"/>
            <a:ext cx="4074841" cy="369332"/>
          </a:xfrm>
          <a:prstGeom prst="rect">
            <a:avLst/>
          </a:prstGeom>
          <a:noFill/>
        </p:spPr>
        <p:txBody>
          <a:bodyPr wrap="square" rtlCol="0">
            <a:spAutoFit/>
          </a:bodyPr>
          <a:lstStyle/>
          <a:p>
            <a:pPr algn="r"/>
            <a:r>
              <a:rPr lang="en-US" altLang="ja-JP" dirty="0"/>
              <a:t>IW-13A-004</a:t>
            </a:r>
            <a:r>
              <a:rPr lang="ja-JP" altLang="en-US"/>
              <a:t>　（</a:t>
            </a:r>
            <a:r>
              <a:rPr lang="en-US" altLang="ja-JP" dirty="0"/>
              <a:t>13</a:t>
            </a:r>
            <a:r>
              <a:rPr lang="ja-JP" altLang="en-US"/>
              <a:t>）　氏名：宮下裕希</a:t>
            </a:r>
            <a:endParaRPr lang="ja-JP" altLang="en-US" dirty="0"/>
          </a:p>
        </p:txBody>
      </p:sp>
      <p:sp>
        <p:nvSpPr>
          <p:cNvPr id="9" name="正方形/長方形 8">
            <a:extLst>
              <a:ext uri="{FF2B5EF4-FFF2-40B4-BE49-F238E27FC236}">
                <a16:creationId xmlns:a16="http://schemas.microsoft.com/office/drawing/2014/main" id="{66D597FA-9BBD-1C43-83A4-81D890B11331}"/>
              </a:ext>
            </a:extLst>
          </p:cNvPr>
          <p:cNvSpPr/>
          <p:nvPr/>
        </p:nvSpPr>
        <p:spPr>
          <a:xfrm>
            <a:off x="10695384" y="116632"/>
            <a:ext cx="1368152" cy="432048"/>
          </a:xfrm>
          <a:prstGeom prst="rect">
            <a:avLst/>
          </a:prstGeom>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fontAlgn="base">
              <a:spcBef>
                <a:spcPct val="0"/>
              </a:spcBef>
              <a:spcAft>
                <a:spcPct val="0"/>
              </a:spcAft>
            </a:pPr>
            <a:r>
              <a:rPr lang="en-US" altLang="ja-JP" sz="1400" dirty="0">
                <a:solidFill>
                  <a:srgbClr val="000000"/>
                </a:solidFill>
                <a:latin typeface="Meiryo UI"/>
                <a:ea typeface="Meiryo UI"/>
              </a:rPr>
              <a:t>Ver 01</a:t>
            </a:r>
          </a:p>
          <a:p>
            <a:pPr algn="ctr" fontAlgn="base">
              <a:spcBef>
                <a:spcPct val="0"/>
              </a:spcBef>
              <a:spcAft>
                <a:spcPct val="0"/>
              </a:spcAft>
            </a:pPr>
            <a:r>
              <a:rPr lang="ja-JP" altLang="en-US" sz="1400">
                <a:solidFill>
                  <a:srgbClr val="000000"/>
                </a:solidFill>
                <a:latin typeface="Meiryo UI"/>
                <a:ea typeface="Meiryo UI"/>
              </a:rPr>
              <a:t>日付</a:t>
            </a:r>
            <a:r>
              <a:rPr lang="en-US" altLang="ja-JP" sz="1400" dirty="0">
                <a:solidFill>
                  <a:srgbClr val="000000"/>
                </a:solidFill>
                <a:latin typeface="Meiryo UI"/>
                <a:ea typeface="Meiryo UI"/>
              </a:rPr>
              <a:t>:07/21</a:t>
            </a:r>
          </a:p>
        </p:txBody>
      </p:sp>
      <p:pic>
        <p:nvPicPr>
          <p:cNvPr id="6" name="図 5" descr="ダイアグラム&#10;&#10;自動的に生成された説明">
            <a:extLst>
              <a:ext uri="{FF2B5EF4-FFF2-40B4-BE49-F238E27FC236}">
                <a16:creationId xmlns:a16="http://schemas.microsoft.com/office/drawing/2014/main" id="{C1F43CB6-C50F-E74F-AD3E-82F19F20E048}"/>
              </a:ext>
            </a:extLst>
          </p:cNvPr>
          <p:cNvPicPr>
            <a:picLocks noChangeAspect="1"/>
          </p:cNvPicPr>
          <p:nvPr/>
        </p:nvPicPr>
        <p:blipFill>
          <a:blip r:embed="rId3"/>
          <a:stretch>
            <a:fillRect/>
          </a:stretch>
        </p:blipFill>
        <p:spPr>
          <a:xfrm>
            <a:off x="2806862" y="1116990"/>
            <a:ext cx="6423261" cy="5000782"/>
          </a:xfrm>
          <a:prstGeom prst="rect">
            <a:avLst/>
          </a:prstGeom>
        </p:spPr>
      </p:pic>
    </p:spTree>
    <p:extLst>
      <p:ext uri="{BB962C8B-B14F-4D97-AF65-F5344CB8AC3E}">
        <p14:creationId xmlns:p14="http://schemas.microsoft.com/office/powerpoint/2010/main" val="8792379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標準デザイン">
  <a:themeElements>
    <a:clrScheme name="ドコモ仕様">
      <a:dk1>
        <a:srgbClr val="000000"/>
      </a:dk1>
      <a:lt1>
        <a:srgbClr val="FFFFFF"/>
      </a:lt1>
      <a:dk2>
        <a:srgbClr val="000000"/>
      </a:dk2>
      <a:lt2>
        <a:srgbClr val="FFFFFF"/>
      </a:lt2>
      <a:accent1>
        <a:srgbClr val="C00000"/>
      </a:accent1>
      <a:accent2>
        <a:srgbClr val="FF7C80"/>
      </a:accent2>
      <a:accent3>
        <a:srgbClr val="FFCCCC"/>
      </a:accent3>
      <a:accent4>
        <a:srgbClr val="FFFFFF"/>
      </a:accent4>
      <a:accent5>
        <a:srgbClr val="FFCCCC"/>
      </a:accent5>
      <a:accent6>
        <a:srgbClr val="FF7C80"/>
      </a:accent6>
      <a:hlink>
        <a:srgbClr val="0000FF"/>
      </a:hlink>
      <a:folHlink>
        <a:srgbClr val="7030A0"/>
      </a:folHlink>
    </a:clrScheme>
    <a:fontScheme name="定番">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rgbClr val="00B0F0"/>
          </a:solidFill>
        </a:ln>
      </a:spPr>
      <a:bodyPr rtlCol="0" anchor="ctr"/>
      <a:lstStyle>
        <a:defPPr algn="ctr">
          <a:defRPr kumimoji="1" sz="1400" dirty="0" smtClean="0">
            <a:solidFill>
              <a:schemeClr val="tx1"/>
            </a:solidFill>
            <a:latin typeface="HGP創英角ｺﾞｼｯｸUB" panose="020B0900000000000000" pitchFamily="50" charset="-128"/>
            <a:ea typeface="HGP創英角ｺﾞｼｯｸUB" panose="020B0900000000000000" pitchFamily="50" charset="-128"/>
          </a:defRPr>
        </a:defPPr>
      </a:lstStyle>
      <a:style>
        <a:lnRef idx="1">
          <a:schemeClr val="accent1"/>
        </a:lnRef>
        <a:fillRef idx="2">
          <a:schemeClr val="accent1"/>
        </a:fillRef>
        <a:effectRef idx="1">
          <a:schemeClr val="accent1"/>
        </a:effectRef>
        <a:fontRef idx="minor">
          <a:schemeClr val="dk1"/>
        </a:fontRef>
      </a:style>
    </a:spDef>
  </a:objectDefaults>
  <a:extraClrSchemeLst>
    <a:extraClrScheme>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5674</TotalTime>
  <Words>904</Words>
  <Application>Microsoft Macintosh PowerPoint</Application>
  <PresentationFormat>ワイド画面</PresentationFormat>
  <Paragraphs>116</Paragraphs>
  <Slides>4</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4</vt:i4>
      </vt:variant>
    </vt:vector>
  </HeadingPairs>
  <TitlesOfParts>
    <vt:vector size="14" baseType="lpstr">
      <vt:lpstr>HGP創英角ｺﾞｼｯｸUB</vt:lpstr>
      <vt:lpstr>HG創英角ｺﾞｼｯｸUB</vt:lpstr>
      <vt:lpstr>Meiryo UI</vt:lpstr>
      <vt:lpstr>ＭＳ Ｐゴシック</vt:lpstr>
      <vt:lpstr>游ゴシック</vt:lpstr>
      <vt:lpstr>游ゴシック Light</vt:lpstr>
      <vt:lpstr>Arial</vt:lpstr>
      <vt:lpstr>Segoe UI</vt:lpstr>
      <vt:lpstr>Office テーマ</vt:lpstr>
      <vt:lpstr>1_標準デザイン</vt:lpstr>
      <vt:lpstr>PowerPoint プレゼンテーション</vt:lpstr>
      <vt:lpstr>PowerPoint プレゼンテーション</vt:lpstr>
      <vt:lpstr> IW31就職作品企画ワークシート</vt:lpstr>
      <vt:lpstr> IW31就職作品企画ワークシート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0177708</dc:creator>
  <cp:lastModifiedBy>my4027</cp:lastModifiedBy>
  <cp:revision>150</cp:revision>
  <cp:lastPrinted>2018-04-16T02:26:30Z</cp:lastPrinted>
  <dcterms:created xsi:type="dcterms:W3CDTF">2018-03-24T13:38:28Z</dcterms:created>
  <dcterms:modified xsi:type="dcterms:W3CDTF">2021-01-28T14:54:00Z</dcterms:modified>
</cp:coreProperties>
</file>